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ton" charset="1" panose="00000500000000000000"/>
      <p:regular r:id="rId15"/>
    </p:embeddedFont>
    <p:embeddedFont>
      <p:font typeface="Monterchi Sans" charset="1" panose="02000503060000020004"/>
      <p:regular r:id="rId16"/>
    </p:embeddedFont>
    <p:embeddedFont>
      <p:font typeface="Monterchi Sans Bold" charset="1" panose="0200050306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9041" y="3889562"/>
            <a:ext cx="15649919" cy="274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31"/>
              </a:lnSpc>
            </a:pPr>
            <a:r>
              <a:rPr lang="en-US" sz="10856">
                <a:solidFill>
                  <a:srgbClr val="5D5340"/>
                </a:solidFill>
                <a:latin typeface="Anton"/>
                <a:ea typeface="Anton"/>
                <a:cs typeface="Anton"/>
                <a:sym typeface="Anton"/>
              </a:rPr>
              <a:t>SISTEMA WEB DE CATÁLOGOS DE JOGOS INDIES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8502684" y="-8356629"/>
            <a:ext cx="1282633" cy="18770658"/>
            <a:chOff x="0" y="0"/>
            <a:chExt cx="337813" cy="49437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8261355" y="263275"/>
            <a:ext cx="1282633" cy="18770658"/>
            <a:chOff x="0" y="0"/>
            <a:chExt cx="337813" cy="494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1257" y="2786012"/>
            <a:ext cx="4390831" cy="14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1"/>
              </a:lnSpc>
            </a:pPr>
            <a:r>
              <a:rPr lang="en-US" sz="8493">
                <a:solidFill>
                  <a:srgbClr val="5D5340"/>
                </a:solidFill>
                <a:latin typeface="Anton"/>
                <a:ea typeface="Anton"/>
                <a:cs typeface="Anton"/>
                <a:sym typeface="Anton"/>
              </a:rPr>
              <a:t>PROBLEMA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77700"/>
            <a:ext cx="16230600" cy="107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6"/>
              </a:lnSpc>
            </a:pPr>
            <a:r>
              <a:rPr lang="en-US" sz="3097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Desenvolvedores de jogos indies enfrentam grande dificuldade para divulgar seus jogos. Sem grandes orçamentos de marketing, é quase impossível competir com a visibilidade dos jogos Triple A e grandes empresas do setor.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73194" y="6278674"/>
            <a:ext cx="7586106" cy="2089089"/>
            <a:chOff x="0" y="0"/>
            <a:chExt cx="1997987" cy="5502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7987" cy="550213"/>
            </a:xfrm>
            <a:custGeom>
              <a:avLst/>
              <a:gdLst/>
              <a:ahLst/>
              <a:cxnLst/>
              <a:rect r="r" b="b" t="t" l="l"/>
              <a:pathLst>
                <a:path h="550213" w="1997987">
                  <a:moveTo>
                    <a:pt x="52048" y="0"/>
                  </a:moveTo>
                  <a:lnTo>
                    <a:pt x="1945939" y="0"/>
                  </a:lnTo>
                  <a:cubicBezTo>
                    <a:pt x="1974684" y="0"/>
                    <a:pt x="1997987" y="23302"/>
                    <a:pt x="1997987" y="52048"/>
                  </a:cubicBezTo>
                  <a:lnTo>
                    <a:pt x="1997987" y="498165"/>
                  </a:lnTo>
                  <a:cubicBezTo>
                    <a:pt x="1997987" y="526910"/>
                    <a:pt x="1974684" y="550213"/>
                    <a:pt x="1945939" y="550213"/>
                  </a:cubicBezTo>
                  <a:lnTo>
                    <a:pt x="52048" y="550213"/>
                  </a:lnTo>
                  <a:cubicBezTo>
                    <a:pt x="23302" y="550213"/>
                    <a:pt x="0" y="526910"/>
                    <a:pt x="0" y="498165"/>
                  </a:cubicBezTo>
                  <a:lnTo>
                    <a:pt x="0" y="52048"/>
                  </a:lnTo>
                  <a:cubicBezTo>
                    <a:pt x="0" y="23302"/>
                    <a:pt x="23302" y="0"/>
                    <a:pt x="52048" y="0"/>
                  </a:cubicBezTo>
                  <a:close/>
                </a:path>
              </a:pathLst>
            </a:custGeom>
            <a:solidFill>
              <a:srgbClr val="A7C39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97987" cy="57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86120" y="6518295"/>
            <a:ext cx="6987389" cy="155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0"/>
              </a:lnSpc>
            </a:pPr>
            <a:r>
              <a:rPr lang="en-US" sz="2993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Grandes empresas dominam as plataformas de divulgação, tornando difícil para o indie dev alcançar seu público-alvo.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0637" y="5580165"/>
            <a:ext cx="3194441" cy="66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15"/>
              </a:lnSpc>
            </a:pPr>
            <a:r>
              <a:rPr lang="en-US" b="true" sz="3867">
                <a:solidFill>
                  <a:srgbClr val="2B3425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Concorrência</a:t>
            </a:r>
          </a:p>
        </p:txBody>
      </p:sp>
      <p:grpSp>
        <p:nvGrpSpPr>
          <p:cNvPr name="Group 9" id="9"/>
          <p:cNvGrpSpPr/>
          <p:nvPr/>
        </p:nvGrpSpPr>
        <p:grpSpPr>
          <a:xfrm rot="-5400000">
            <a:off x="8744013" y="-8356629"/>
            <a:ext cx="1282633" cy="18770658"/>
            <a:chOff x="0" y="0"/>
            <a:chExt cx="337813" cy="49437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8744013" y="901671"/>
            <a:ext cx="1282633" cy="18770658"/>
            <a:chOff x="0" y="0"/>
            <a:chExt cx="337813" cy="4943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1257" y="6278674"/>
            <a:ext cx="7586106" cy="2089089"/>
            <a:chOff x="0" y="0"/>
            <a:chExt cx="1997987" cy="5502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7987" cy="550213"/>
            </a:xfrm>
            <a:custGeom>
              <a:avLst/>
              <a:gdLst/>
              <a:ahLst/>
              <a:cxnLst/>
              <a:rect r="r" b="b" t="t" l="l"/>
              <a:pathLst>
                <a:path h="550213" w="1997987">
                  <a:moveTo>
                    <a:pt x="52048" y="0"/>
                  </a:moveTo>
                  <a:lnTo>
                    <a:pt x="1945939" y="0"/>
                  </a:lnTo>
                  <a:cubicBezTo>
                    <a:pt x="1974684" y="0"/>
                    <a:pt x="1997987" y="23302"/>
                    <a:pt x="1997987" y="52048"/>
                  </a:cubicBezTo>
                  <a:lnTo>
                    <a:pt x="1997987" y="498165"/>
                  </a:lnTo>
                  <a:cubicBezTo>
                    <a:pt x="1997987" y="526910"/>
                    <a:pt x="1974684" y="550213"/>
                    <a:pt x="1945939" y="550213"/>
                  </a:cubicBezTo>
                  <a:lnTo>
                    <a:pt x="52048" y="550213"/>
                  </a:lnTo>
                  <a:cubicBezTo>
                    <a:pt x="23302" y="550213"/>
                    <a:pt x="0" y="526910"/>
                    <a:pt x="0" y="498165"/>
                  </a:cubicBezTo>
                  <a:lnTo>
                    <a:pt x="0" y="52048"/>
                  </a:lnTo>
                  <a:cubicBezTo>
                    <a:pt x="0" y="23302"/>
                    <a:pt x="23302" y="0"/>
                    <a:pt x="52048" y="0"/>
                  </a:cubicBezTo>
                  <a:close/>
                </a:path>
              </a:pathLst>
            </a:custGeom>
            <a:solidFill>
              <a:srgbClr val="A7C39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997987" cy="57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64184" y="6518295"/>
            <a:ext cx="6987389" cy="155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0"/>
              </a:lnSpc>
            </a:pPr>
            <a:r>
              <a:rPr lang="en-US" sz="2993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Jogos indies ficam invisíveis no mercado, perdendo espaço para títulos com alto investimento em publicidade.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580165"/>
            <a:ext cx="3194441" cy="663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15"/>
              </a:lnSpc>
            </a:pPr>
            <a:r>
              <a:rPr lang="en-US" b="true" sz="3867">
                <a:solidFill>
                  <a:srgbClr val="2B3425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Visibilidade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591707" y="-8356629"/>
            <a:ext cx="1282633" cy="18770658"/>
            <a:chOff x="0" y="0"/>
            <a:chExt cx="337813" cy="494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670016"/>
            <a:ext cx="8566162" cy="8020344"/>
          </a:xfrm>
          <a:custGeom>
            <a:avLst/>
            <a:gdLst/>
            <a:ahLst/>
            <a:cxnLst/>
            <a:rect r="r" b="b" t="t" l="l"/>
            <a:pathLst>
              <a:path h="8020344" w="8566162">
                <a:moveTo>
                  <a:pt x="0" y="0"/>
                </a:moveTo>
                <a:lnTo>
                  <a:pt x="8566162" y="0"/>
                </a:lnTo>
                <a:lnTo>
                  <a:pt x="8566162" y="8020345"/>
                </a:lnTo>
                <a:lnTo>
                  <a:pt x="0" y="8020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07" t="0" r="-50891" b="-1891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8744013" y="901671"/>
            <a:ext cx="1282633" cy="18770658"/>
            <a:chOff x="0" y="0"/>
            <a:chExt cx="337813" cy="4943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33023" y="2836696"/>
            <a:ext cx="6682598" cy="14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1"/>
              </a:lnSpc>
            </a:pPr>
            <a:r>
              <a:rPr lang="en-US" sz="8493">
                <a:solidFill>
                  <a:srgbClr val="5D5340"/>
                </a:solidFill>
                <a:latin typeface="Anton"/>
                <a:ea typeface="Anton"/>
                <a:cs typeface="Anton"/>
                <a:sym typeface="Anton"/>
              </a:rPr>
              <a:t>OBJETIVO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05270" y="5181453"/>
            <a:ext cx="8680347" cy="223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sz="3197">
                <a:solidFill>
                  <a:srgbClr val="5D534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Criar uma plataforma web que auxilie desenvolvedores de jogos indies a divulgar seus trabalhos de forma acessível e eficiente, oferecendo visibilidade para projetos independentes e conectando criadores ao seu público.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5310" y="2222558"/>
            <a:ext cx="13180039" cy="14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1"/>
              </a:lnSpc>
            </a:pPr>
            <a:r>
              <a:rPr lang="en-US" sz="8493">
                <a:solidFill>
                  <a:srgbClr val="414B3B"/>
                </a:solidFill>
                <a:latin typeface="Anton"/>
                <a:ea typeface="Anton"/>
                <a:cs typeface="Anton"/>
                <a:sym typeface="Anton"/>
              </a:rPr>
              <a:t>FUNCIONALIDADES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4901" y="3927804"/>
            <a:ext cx="5381802" cy="7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5"/>
              </a:lnSpc>
            </a:pPr>
            <a:r>
              <a:rPr lang="en-US" b="true" sz="4696">
                <a:solidFill>
                  <a:srgbClr val="414B3B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Vitrine de Jogos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4901" y="4656149"/>
            <a:ext cx="7254590" cy="109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6"/>
              </a:lnSpc>
            </a:pPr>
            <a:r>
              <a:rPr lang="en-US" sz="3119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Exibição dos jogos indie cadastrados, com capa, descrição e informações do desenvolvedor.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4901" y="6558070"/>
            <a:ext cx="5381802" cy="7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5"/>
              </a:lnSpc>
            </a:pPr>
            <a:r>
              <a:rPr lang="en-US" b="true" sz="4696">
                <a:solidFill>
                  <a:srgbClr val="414B3B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Sistema de Feedbacks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4901" y="7286415"/>
            <a:ext cx="7254590" cy="16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6"/>
              </a:lnSpc>
            </a:pPr>
            <a:r>
              <a:rPr lang="en-US" sz="3119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Usuários podem avaliar e comentar os jogos, ajudando desenvolvedores a melhorarem seus projetos.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66433" y="3927804"/>
            <a:ext cx="5381802" cy="7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5"/>
              </a:lnSpc>
            </a:pPr>
            <a:r>
              <a:rPr lang="en-US" b="true" sz="4696">
                <a:solidFill>
                  <a:srgbClr val="414B3B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Filtragem por Categorias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66433" y="4656149"/>
            <a:ext cx="7276667" cy="109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6"/>
              </a:lnSpc>
            </a:pPr>
            <a:r>
              <a:rPr lang="en-US" sz="3119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Busca e filtros por gênero, tipo e outras categorias para facilitar a descoberta de jogos.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2572" y="6558070"/>
            <a:ext cx="5381802" cy="7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5"/>
              </a:lnSpc>
            </a:pPr>
            <a:r>
              <a:rPr lang="en-US" b="true" sz="4696">
                <a:solidFill>
                  <a:srgbClr val="414B3B"/>
                </a:solidFill>
                <a:latin typeface="Monterchi Sans Bold"/>
                <a:ea typeface="Monterchi Sans Bold"/>
                <a:cs typeface="Monterchi Sans Bold"/>
                <a:sym typeface="Monterchi Sans Bold"/>
              </a:rPr>
              <a:t>Links Externos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2572" y="7286415"/>
            <a:ext cx="7080527" cy="164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6"/>
              </a:lnSpc>
            </a:pPr>
            <a:r>
              <a:rPr lang="en-US" sz="3119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Redirecionamento para plataformas como GitHub, Discord e Steam para download ou compra do jogo.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8744013" y="-8356629"/>
            <a:ext cx="1282633" cy="18770658"/>
            <a:chOff x="0" y="0"/>
            <a:chExt cx="337813" cy="4943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2B342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8502684" y="901671"/>
            <a:ext cx="1282633" cy="18770658"/>
            <a:chOff x="0" y="0"/>
            <a:chExt cx="337813" cy="4943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2B342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529984" y="-8356629"/>
            <a:ext cx="1282633" cy="18770658"/>
            <a:chOff x="0" y="0"/>
            <a:chExt cx="337813" cy="494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374319"/>
            <a:ext cx="18288000" cy="3912681"/>
            <a:chOff x="0" y="0"/>
            <a:chExt cx="2833290" cy="6061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3290" cy="606177"/>
            </a:xfrm>
            <a:custGeom>
              <a:avLst/>
              <a:gdLst/>
              <a:ahLst/>
              <a:cxnLst/>
              <a:rect r="r" b="b" t="t" l="l"/>
              <a:pathLst>
                <a:path h="606177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606177"/>
                  </a:lnTo>
                  <a:lnTo>
                    <a:pt x="0" y="606177"/>
                  </a:lnTo>
                  <a:close/>
                </a:path>
              </a:pathLst>
            </a:custGeom>
            <a:blipFill>
              <a:blip r:embed="rId2"/>
              <a:stretch>
                <a:fillRect l="0" t="-81100" r="0" b="-8110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553980" y="2109024"/>
            <a:ext cx="13180039" cy="14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1"/>
              </a:lnSpc>
            </a:pPr>
            <a:r>
              <a:rPr lang="en-US" sz="8493">
                <a:solidFill>
                  <a:srgbClr val="5D5340"/>
                </a:solidFill>
                <a:latin typeface="Anton"/>
                <a:ea typeface="Anton"/>
                <a:cs typeface="Anton"/>
                <a:sym typeface="Anton"/>
              </a:rPr>
              <a:t>DIFERENCIAL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1825" y="3712639"/>
            <a:ext cx="14524349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</a:pPr>
            <a:r>
              <a:rPr lang="en-US" sz="3197">
                <a:solidFill>
                  <a:srgbClr val="5D534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O grande diferencial do sistema é uma IA integrada que publica automaticamente os jogos cadastrados no Instagram. Com isso, os desenvolvedores ganham visibilidade nas redes sociais sem esforço extra, ampliando o alcance dos seus jogos de forma simples e automatizada.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6339" y="1670016"/>
            <a:ext cx="7691661" cy="8000818"/>
            <a:chOff x="0" y="0"/>
            <a:chExt cx="1422585" cy="1479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585" cy="1479765"/>
            </a:xfrm>
            <a:custGeom>
              <a:avLst/>
              <a:gdLst/>
              <a:ahLst/>
              <a:cxnLst/>
              <a:rect r="r" b="b" t="t" l="l"/>
              <a:pathLst>
                <a:path h="1479765" w="1422585">
                  <a:moveTo>
                    <a:pt x="0" y="0"/>
                  </a:moveTo>
                  <a:lnTo>
                    <a:pt x="1422585" y="0"/>
                  </a:lnTo>
                  <a:lnTo>
                    <a:pt x="1422585" y="1479765"/>
                  </a:lnTo>
                  <a:lnTo>
                    <a:pt x="0" y="1479765"/>
                  </a:lnTo>
                  <a:close/>
                </a:path>
              </a:pathLst>
            </a:custGeom>
            <a:blipFill>
              <a:blip r:embed="rId2"/>
              <a:stretch>
                <a:fillRect l="-28014" t="0" r="-2801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8529984" y="-8356629"/>
            <a:ext cx="1282633" cy="18770658"/>
            <a:chOff x="0" y="0"/>
            <a:chExt cx="337813" cy="49437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8502684" y="926822"/>
            <a:ext cx="1282633" cy="18770658"/>
            <a:chOff x="0" y="0"/>
            <a:chExt cx="337813" cy="49437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13104" y="1897206"/>
            <a:ext cx="7244742" cy="138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32"/>
              </a:lnSpc>
            </a:pPr>
            <a:r>
              <a:rPr lang="en-US" sz="8094">
                <a:solidFill>
                  <a:srgbClr val="414B3B"/>
                </a:solidFill>
                <a:latin typeface="Anton"/>
                <a:ea typeface="Anton"/>
                <a:cs typeface="Anton"/>
                <a:sym typeface="Anton"/>
              </a:rPr>
              <a:t>TECNOLOGIAS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568034"/>
            <a:ext cx="8115300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sz="3197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React — Front-end moderno e responsivo, ideal para criar interfaces dinâmicas e interativas com boa experiência ao usuário.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525104"/>
            <a:ext cx="8115300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sz="3197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Node.js — Back-end escalável e eficiente, permite lidar com múltiplas requisições simultâneas com alta performance.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482174"/>
            <a:ext cx="8115300" cy="167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sz="3197">
                <a:solidFill>
                  <a:srgbClr val="414B3B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MySQL — Banco de dados relacional confiável, estruturado para armazenar jogos, usuários e feedbacks com integridade.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502684" y="-8487806"/>
            <a:ext cx="1282633" cy="18770658"/>
            <a:chOff x="0" y="0"/>
            <a:chExt cx="337813" cy="494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54300" y="911958"/>
            <a:ext cx="1262058" cy="18770658"/>
            <a:chOff x="0" y="0"/>
            <a:chExt cx="332394" cy="49437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2394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2394">
                  <a:moveTo>
                    <a:pt x="0" y="0"/>
                  </a:moveTo>
                  <a:lnTo>
                    <a:pt x="332394" y="0"/>
                  </a:lnTo>
                  <a:lnTo>
                    <a:pt x="332394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32394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0919" y="2928840"/>
            <a:ext cx="7586106" cy="5590953"/>
            <a:chOff x="0" y="0"/>
            <a:chExt cx="1997987" cy="14725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7987" cy="1472514"/>
            </a:xfrm>
            <a:custGeom>
              <a:avLst/>
              <a:gdLst/>
              <a:ahLst/>
              <a:cxnLst/>
              <a:rect r="r" b="b" t="t" l="l"/>
              <a:pathLst>
                <a:path h="1472514" w="1997987">
                  <a:moveTo>
                    <a:pt x="52048" y="0"/>
                  </a:moveTo>
                  <a:lnTo>
                    <a:pt x="1945939" y="0"/>
                  </a:lnTo>
                  <a:cubicBezTo>
                    <a:pt x="1974684" y="0"/>
                    <a:pt x="1997987" y="23302"/>
                    <a:pt x="1997987" y="52048"/>
                  </a:cubicBezTo>
                  <a:lnTo>
                    <a:pt x="1997987" y="1420467"/>
                  </a:lnTo>
                  <a:cubicBezTo>
                    <a:pt x="1997987" y="1449212"/>
                    <a:pt x="1974684" y="1472514"/>
                    <a:pt x="1945939" y="1472514"/>
                  </a:cubicBezTo>
                  <a:lnTo>
                    <a:pt x="52048" y="1472514"/>
                  </a:lnTo>
                  <a:cubicBezTo>
                    <a:pt x="23302" y="1472514"/>
                    <a:pt x="0" y="1449212"/>
                    <a:pt x="0" y="1420467"/>
                  </a:cubicBezTo>
                  <a:lnTo>
                    <a:pt x="0" y="52048"/>
                  </a:lnTo>
                  <a:cubicBezTo>
                    <a:pt x="0" y="23302"/>
                    <a:pt x="23302" y="0"/>
                    <a:pt x="52048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997987" cy="1501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95319"/>
            <a:ext cx="6817817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F</a:t>
            </a: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oco em um nicho específico: Atende diretamente às dores de uma comunidade engajada e carente de espaço.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Automatização do marketing: A divulgação no Instagram por IA economiza tempo e dinheiro do desenvolvedor.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Hub centralizador: Facilita para o jogador encontrar projetos independentes em um só lugar.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673194" y="2900148"/>
            <a:ext cx="7586106" cy="5619646"/>
            <a:chOff x="0" y="0"/>
            <a:chExt cx="1997987" cy="1480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7987" cy="1480071"/>
            </a:xfrm>
            <a:custGeom>
              <a:avLst/>
              <a:gdLst/>
              <a:ahLst/>
              <a:cxnLst/>
              <a:rect r="r" b="b" t="t" l="l"/>
              <a:pathLst>
                <a:path h="1480071" w="1997987">
                  <a:moveTo>
                    <a:pt x="52048" y="0"/>
                  </a:moveTo>
                  <a:lnTo>
                    <a:pt x="1945939" y="0"/>
                  </a:lnTo>
                  <a:cubicBezTo>
                    <a:pt x="1974684" y="0"/>
                    <a:pt x="1997987" y="23302"/>
                    <a:pt x="1997987" y="52048"/>
                  </a:cubicBezTo>
                  <a:lnTo>
                    <a:pt x="1997987" y="1428024"/>
                  </a:lnTo>
                  <a:cubicBezTo>
                    <a:pt x="1997987" y="1456769"/>
                    <a:pt x="1974684" y="1480071"/>
                    <a:pt x="1945939" y="1480071"/>
                  </a:cubicBezTo>
                  <a:lnTo>
                    <a:pt x="52048" y="1480071"/>
                  </a:lnTo>
                  <a:cubicBezTo>
                    <a:pt x="23302" y="1480071"/>
                    <a:pt x="0" y="1456769"/>
                    <a:pt x="0" y="1428024"/>
                  </a:cubicBezTo>
                  <a:lnTo>
                    <a:pt x="0" y="52048"/>
                  </a:lnTo>
                  <a:cubicBezTo>
                    <a:pt x="0" y="23302"/>
                    <a:pt x="23302" y="0"/>
                    <a:pt x="52048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997987" cy="1508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72552" y="3186570"/>
            <a:ext cx="6987389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Crescimento d</a:t>
            </a: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o mercado indie: O setor independente ganha cada vez mais relevância e busca por alternativas às lojas gigantes.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Engajamento em redes sociais: O apelo visual dos jogos no Instagram atrai um público jovem que consome bastante conteúdo indie.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Parcerias com comunidades: Possibilidade de colaborar com faculdades, Game Jams e estúdios independentes locais.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838874" y="273084"/>
            <a:ext cx="4610251" cy="1134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9"/>
              </a:lnSpc>
              <a:spcBef>
                <a:spcPct val="0"/>
              </a:spcBef>
            </a:pPr>
            <a:r>
              <a:rPr lang="en-US" sz="6706">
                <a:solidFill>
                  <a:srgbClr val="FFF9F3"/>
                </a:solidFill>
                <a:latin typeface="Anton"/>
                <a:ea typeface="Anton"/>
                <a:cs typeface="Anton"/>
                <a:sym typeface="Anton"/>
              </a:rPr>
              <a:t>FOFA (SWOT)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0919" y="2277839"/>
            <a:ext cx="1989891" cy="893228"/>
            <a:chOff x="0" y="0"/>
            <a:chExt cx="524086" cy="2352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086" cy="235253"/>
            </a:xfrm>
            <a:custGeom>
              <a:avLst/>
              <a:gdLst/>
              <a:ahLst/>
              <a:cxnLst/>
              <a:rect r="r" b="b" t="t" l="l"/>
              <a:pathLst>
                <a:path h="235253" w="524086">
                  <a:moveTo>
                    <a:pt x="117627" y="0"/>
                  </a:moveTo>
                  <a:lnTo>
                    <a:pt x="406460" y="0"/>
                  </a:lnTo>
                  <a:cubicBezTo>
                    <a:pt x="437656" y="0"/>
                    <a:pt x="467575" y="12393"/>
                    <a:pt x="489634" y="34452"/>
                  </a:cubicBezTo>
                  <a:cubicBezTo>
                    <a:pt x="511694" y="56511"/>
                    <a:pt x="524086" y="86430"/>
                    <a:pt x="524086" y="117627"/>
                  </a:cubicBezTo>
                  <a:lnTo>
                    <a:pt x="524086" y="117627"/>
                  </a:lnTo>
                  <a:cubicBezTo>
                    <a:pt x="524086" y="148823"/>
                    <a:pt x="511694" y="178742"/>
                    <a:pt x="489634" y="200801"/>
                  </a:cubicBezTo>
                  <a:cubicBezTo>
                    <a:pt x="467575" y="222861"/>
                    <a:pt x="437656" y="235253"/>
                    <a:pt x="406460" y="235253"/>
                  </a:cubicBezTo>
                  <a:lnTo>
                    <a:pt x="117627" y="235253"/>
                  </a:lnTo>
                  <a:cubicBezTo>
                    <a:pt x="86430" y="235253"/>
                    <a:pt x="56511" y="222861"/>
                    <a:pt x="34452" y="200801"/>
                  </a:cubicBezTo>
                  <a:cubicBezTo>
                    <a:pt x="12393" y="178742"/>
                    <a:pt x="0" y="148823"/>
                    <a:pt x="0" y="117627"/>
                  </a:cubicBezTo>
                  <a:lnTo>
                    <a:pt x="0" y="117627"/>
                  </a:lnTo>
                  <a:cubicBezTo>
                    <a:pt x="0" y="86430"/>
                    <a:pt x="12393" y="56511"/>
                    <a:pt x="34452" y="34452"/>
                  </a:cubicBezTo>
                  <a:cubicBezTo>
                    <a:pt x="56511" y="12393"/>
                    <a:pt x="86430" y="0"/>
                    <a:pt x="11762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524086" cy="311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418"/>
                </a:lnSpc>
              </a:pPr>
              <a:r>
                <a:rPr lang="en-US" b="true" sz="3870">
                  <a:solidFill>
                    <a:srgbClr val="FFF9F3"/>
                  </a:solidFill>
                  <a:latin typeface="Monterchi Sans Bold"/>
                  <a:ea typeface="Monterchi Sans Bold"/>
                  <a:cs typeface="Monterchi Sans Bold"/>
                  <a:sym typeface="Monterchi Sans Bold"/>
                </a:rPr>
                <a:t>FORÇA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71120" y="2277839"/>
            <a:ext cx="4441753" cy="893228"/>
            <a:chOff x="0" y="0"/>
            <a:chExt cx="1169845" cy="2352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9844" cy="235253"/>
            </a:xfrm>
            <a:custGeom>
              <a:avLst/>
              <a:gdLst/>
              <a:ahLst/>
              <a:cxnLst/>
              <a:rect r="r" b="b" t="t" l="l"/>
              <a:pathLst>
                <a:path h="235253" w="1169844">
                  <a:moveTo>
                    <a:pt x="88892" y="0"/>
                  </a:moveTo>
                  <a:lnTo>
                    <a:pt x="1080952" y="0"/>
                  </a:lnTo>
                  <a:cubicBezTo>
                    <a:pt x="1130046" y="0"/>
                    <a:pt x="1169844" y="39798"/>
                    <a:pt x="1169844" y="88892"/>
                  </a:cubicBezTo>
                  <a:lnTo>
                    <a:pt x="1169844" y="146361"/>
                  </a:lnTo>
                  <a:cubicBezTo>
                    <a:pt x="1169844" y="169937"/>
                    <a:pt x="1160479" y="192547"/>
                    <a:pt x="1143808" y="209217"/>
                  </a:cubicBezTo>
                  <a:cubicBezTo>
                    <a:pt x="1127138" y="225888"/>
                    <a:pt x="1104528" y="235253"/>
                    <a:pt x="1080952" y="235253"/>
                  </a:cubicBezTo>
                  <a:lnTo>
                    <a:pt x="88892" y="235253"/>
                  </a:lnTo>
                  <a:cubicBezTo>
                    <a:pt x="65317" y="235253"/>
                    <a:pt x="42707" y="225888"/>
                    <a:pt x="26036" y="209217"/>
                  </a:cubicBezTo>
                  <a:cubicBezTo>
                    <a:pt x="9365" y="192547"/>
                    <a:pt x="0" y="169937"/>
                    <a:pt x="0" y="146361"/>
                  </a:cubicBezTo>
                  <a:lnTo>
                    <a:pt x="0" y="88892"/>
                  </a:lnTo>
                  <a:cubicBezTo>
                    <a:pt x="0" y="65317"/>
                    <a:pt x="9365" y="42707"/>
                    <a:pt x="26036" y="26036"/>
                  </a:cubicBezTo>
                  <a:cubicBezTo>
                    <a:pt x="42707" y="9365"/>
                    <a:pt x="65317" y="0"/>
                    <a:pt x="88892" y="0"/>
                  </a:cubicBezTo>
                  <a:close/>
                </a:path>
              </a:pathLst>
            </a:custGeom>
            <a:solidFill>
              <a:srgbClr val="659E5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169845" cy="311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418"/>
                </a:lnSpc>
              </a:pPr>
              <a:r>
                <a:rPr lang="en-US" b="true" sz="3870">
                  <a:solidFill>
                    <a:srgbClr val="FFF9F3"/>
                  </a:solidFill>
                  <a:latin typeface="Monterchi Sans Bold"/>
                  <a:ea typeface="Monterchi Sans Bold"/>
                  <a:cs typeface="Monterchi Sans Bold"/>
                  <a:sym typeface="Monterchi Sans Bold"/>
                </a:rPr>
                <a:t>OPORTUNIDADES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653" y="2894544"/>
            <a:ext cx="7855204" cy="5895796"/>
            <a:chOff x="0" y="0"/>
            <a:chExt cx="1995270" cy="1497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5270" cy="1497568"/>
            </a:xfrm>
            <a:custGeom>
              <a:avLst/>
              <a:gdLst/>
              <a:ahLst/>
              <a:cxnLst/>
              <a:rect r="r" b="b" t="t" l="l"/>
              <a:pathLst>
                <a:path h="1497568" w="1995270">
                  <a:moveTo>
                    <a:pt x="50265" y="0"/>
                  </a:moveTo>
                  <a:lnTo>
                    <a:pt x="1945005" y="0"/>
                  </a:lnTo>
                  <a:cubicBezTo>
                    <a:pt x="1958336" y="0"/>
                    <a:pt x="1971121" y="5296"/>
                    <a:pt x="1980548" y="14722"/>
                  </a:cubicBezTo>
                  <a:cubicBezTo>
                    <a:pt x="1989974" y="24149"/>
                    <a:pt x="1995270" y="36934"/>
                    <a:pt x="1995270" y="50265"/>
                  </a:cubicBezTo>
                  <a:lnTo>
                    <a:pt x="1995270" y="1447304"/>
                  </a:lnTo>
                  <a:cubicBezTo>
                    <a:pt x="1995270" y="1460635"/>
                    <a:pt x="1989974" y="1473420"/>
                    <a:pt x="1980548" y="1482846"/>
                  </a:cubicBezTo>
                  <a:cubicBezTo>
                    <a:pt x="1971121" y="1492273"/>
                    <a:pt x="1958336" y="1497568"/>
                    <a:pt x="1945005" y="1497568"/>
                  </a:cubicBezTo>
                  <a:lnTo>
                    <a:pt x="50265" y="1497568"/>
                  </a:lnTo>
                  <a:cubicBezTo>
                    <a:pt x="36934" y="1497568"/>
                    <a:pt x="24149" y="1492273"/>
                    <a:pt x="14722" y="1482846"/>
                  </a:cubicBezTo>
                  <a:cubicBezTo>
                    <a:pt x="5296" y="1473420"/>
                    <a:pt x="0" y="1460635"/>
                    <a:pt x="0" y="1447304"/>
                  </a:cubicBezTo>
                  <a:lnTo>
                    <a:pt x="0" y="50265"/>
                  </a:lnTo>
                  <a:cubicBezTo>
                    <a:pt x="0" y="36934"/>
                    <a:pt x="5296" y="24149"/>
                    <a:pt x="14722" y="14722"/>
                  </a:cubicBezTo>
                  <a:cubicBezTo>
                    <a:pt x="24149" y="5296"/>
                    <a:pt x="36934" y="0"/>
                    <a:pt x="50265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95270" cy="1526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90556" y="3211170"/>
            <a:ext cx="7245101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Dependência de terceiros: A plataforma depende de links externos (Steam, GitHub) para finalizar o acesso/compra do jogo.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Necessidade de atração inicial: O catálogo só ganha valor se conseguir atrair uma massa crítica de desenvolvedores e jogadores no início.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Limitação de conversão: A plataforma divulga, mas a decisão de compra do jogador ainda depende do apelo do próprio jogo.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2860089"/>
            <a:ext cx="8378658" cy="5930250"/>
            <a:chOff x="0" y="0"/>
            <a:chExt cx="1997987" cy="1414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7987" cy="1414136"/>
            </a:xfrm>
            <a:custGeom>
              <a:avLst/>
              <a:gdLst/>
              <a:ahLst/>
              <a:cxnLst/>
              <a:rect r="r" b="b" t="t" l="l"/>
              <a:pathLst>
                <a:path h="1414136" w="1997987">
                  <a:moveTo>
                    <a:pt x="47124" y="0"/>
                  </a:moveTo>
                  <a:lnTo>
                    <a:pt x="1950863" y="0"/>
                  </a:lnTo>
                  <a:cubicBezTo>
                    <a:pt x="1976888" y="0"/>
                    <a:pt x="1997987" y="21098"/>
                    <a:pt x="1997987" y="47124"/>
                  </a:cubicBezTo>
                  <a:lnTo>
                    <a:pt x="1997987" y="1367012"/>
                  </a:lnTo>
                  <a:cubicBezTo>
                    <a:pt x="1997987" y="1379510"/>
                    <a:pt x="1993022" y="1391496"/>
                    <a:pt x="1984184" y="1400334"/>
                  </a:cubicBezTo>
                  <a:cubicBezTo>
                    <a:pt x="1975347" y="1409171"/>
                    <a:pt x="1963361" y="1414136"/>
                    <a:pt x="1950863" y="1414136"/>
                  </a:cubicBezTo>
                  <a:lnTo>
                    <a:pt x="47124" y="1414136"/>
                  </a:lnTo>
                  <a:cubicBezTo>
                    <a:pt x="34626" y="1414136"/>
                    <a:pt x="22640" y="1409171"/>
                    <a:pt x="13802" y="1400334"/>
                  </a:cubicBezTo>
                  <a:cubicBezTo>
                    <a:pt x="4965" y="1391496"/>
                    <a:pt x="0" y="1379510"/>
                    <a:pt x="0" y="1367012"/>
                  </a:cubicBezTo>
                  <a:lnTo>
                    <a:pt x="0" y="47124"/>
                  </a:lnTo>
                  <a:cubicBezTo>
                    <a:pt x="0" y="34626"/>
                    <a:pt x="4965" y="22640"/>
                    <a:pt x="13802" y="13802"/>
                  </a:cubicBezTo>
                  <a:cubicBezTo>
                    <a:pt x="22640" y="4965"/>
                    <a:pt x="34626" y="0"/>
                    <a:pt x="47124" y="0"/>
                  </a:cubicBezTo>
                  <a:close/>
                </a:path>
              </a:pathLst>
            </a:custGeom>
            <a:solidFill>
              <a:srgbClr val="FB462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97987" cy="1442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716589" y="3396339"/>
            <a:ext cx="7233480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Concorrência consolidada: Competição direta com plataformas que já dominam o mercado indie (ex: itch.io).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Custos de infraestrutura: Risco de os custos para manter o sistema online superarem a renda da plataforma.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erchi Sans"/>
                <a:ea typeface="Monterchi Sans"/>
                <a:cs typeface="Monterchi Sans"/>
                <a:sym typeface="Monterchi Sans"/>
              </a:rPr>
              <a:t>Sustentabilidade financeira: Dificuldade de monetizar o serviço, já que desenvolvedores indies buscam opções gratuitas.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26653" y="2178375"/>
            <a:ext cx="2745944" cy="893228"/>
            <a:chOff x="0" y="0"/>
            <a:chExt cx="697487" cy="2268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487" cy="226885"/>
            </a:xfrm>
            <a:custGeom>
              <a:avLst/>
              <a:gdLst/>
              <a:ahLst/>
              <a:cxnLst/>
              <a:rect r="r" b="b" t="t" l="l"/>
              <a:pathLst>
                <a:path h="226885" w="697487">
                  <a:moveTo>
                    <a:pt x="113443" y="0"/>
                  </a:moveTo>
                  <a:lnTo>
                    <a:pt x="584044" y="0"/>
                  </a:lnTo>
                  <a:cubicBezTo>
                    <a:pt x="614131" y="0"/>
                    <a:pt x="642985" y="11952"/>
                    <a:pt x="664260" y="33227"/>
                  </a:cubicBezTo>
                  <a:cubicBezTo>
                    <a:pt x="685535" y="54501"/>
                    <a:pt x="697487" y="83356"/>
                    <a:pt x="697487" y="113443"/>
                  </a:cubicBezTo>
                  <a:lnTo>
                    <a:pt x="697487" y="113443"/>
                  </a:lnTo>
                  <a:cubicBezTo>
                    <a:pt x="697487" y="143530"/>
                    <a:pt x="685535" y="172384"/>
                    <a:pt x="664260" y="193659"/>
                  </a:cubicBezTo>
                  <a:cubicBezTo>
                    <a:pt x="642985" y="214933"/>
                    <a:pt x="614131" y="226885"/>
                    <a:pt x="584044" y="226885"/>
                  </a:cubicBezTo>
                  <a:lnTo>
                    <a:pt x="113443" y="226885"/>
                  </a:lnTo>
                  <a:cubicBezTo>
                    <a:pt x="83356" y="226885"/>
                    <a:pt x="54501" y="214933"/>
                    <a:pt x="33227" y="193659"/>
                  </a:cubicBezTo>
                  <a:cubicBezTo>
                    <a:pt x="11952" y="172384"/>
                    <a:pt x="0" y="143530"/>
                    <a:pt x="0" y="113443"/>
                  </a:cubicBezTo>
                  <a:lnTo>
                    <a:pt x="0" y="113443"/>
                  </a:lnTo>
                  <a:cubicBezTo>
                    <a:pt x="0" y="83356"/>
                    <a:pt x="11952" y="54501"/>
                    <a:pt x="33227" y="33227"/>
                  </a:cubicBezTo>
                  <a:cubicBezTo>
                    <a:pt x="54501" y="11952"/>
                    <a:pt x="83356" y="0"/>
                    <a:pt x="113443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697487" cy="303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418"/>
                </a:lnSpc>
              </a:pPr>
              <a:r>
                <a:rPr lang="en-US" b="true" sz="3870">
                  <a:solidFill>
                    <a:srgbClr val="FFF9F3"/>
                  </a:solidFill>
                  <a:latin typeface="Monterchi Sans Bold"/>
                  <a:ea typeface="Monterchi Sans Bold"/>
                  <a:cs typeface="Monterchi Sans Bold"/>
                  <a:sym typeface="Monterchi Sans Bold"/>
                </a:rPr>
                <a:t>FRAQUEZAS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2178375"/>
            <a:ext cx="3015840" cy="893228"/>
            <a:chOff x="0" y="0"/>
            <a:chExt cx="719162" cy="21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9162" cy="213000"/>
            </a:xfrm>
            <a:custGeom>
              <a:avLst/>
              <a:gdLst/>
              <a:ahLst/>
              <a:cxnLst/>
              <a:rect r="r" b="b" t="t" l="l"/>
              <a:pathLst>
                <a:path h="213000" w="719162">
                  <a:moveTo>
                    <a:pt x="106500" y="0"/>
                  </a:moveTo>
                  <a:lnTo>
                    <a:pt x="612661" y="0"/>
                  </a:lnTo>
                  <a:cubicBezTo>
                    <a:pt x="640907" y="0"/>
                    <a:pt x="667996" y="11221"/>
                    <a:pt x="687968" y="31193"/>
                  </a:cubicBezTo>
                  <a:cubicBezTo>
                    <a:pt x="707941" y="51166"/>
                    <a:pt x="719162" y="78255"/>
                    <a:pt x="719162" y="106500"/>
                  </a:cubicBezTo>
                  <a:lnTo>
                    <a:pt x="719162" y="106500"/>
                  </a:lnTo>
                  <a:cubicBezTo>
                    <a:pt x="719162" y="134746"/>
                    <a:pt x="707941" y="161835"/>
                    <a:pt x="687968" y="181807"/>
                  </a:cubicBezTo>
                  <a:cubicBezTo>
                    <a:pt x="667996" y="201780"/>
                    <a:pt x="640907" y="213000"/>
                    <a:pt x="612661" y="213000"/>
                  </a:cubicBezTo>
                  <a:lnTo>
                    <a:pt x="106500" y="213000"/>
                  </a:lnTo>
                  <a:cubicBezTo>
                    <a:pt x="78255" y="213000"/>
                    <a:pt x="51166" y="201780"/>
                    <a:pt x="31193" y="181807"/>
                  </a:cubicBezTo>
                  <a:cubicBezTo>
                    <a:pt x="11221" y="161835"/>
                    <a:pt x="0" y="134746"/>
                    <a:pt x="0" y="106500"/>
                  </a:cubicBezTo>
                  <a:lnTo>
                    <a:pt x="0" y="106500"/>
                  </a:lnTo>
                  <a:cubicBezTo>
                    <a:pt x="0" y="78255"/>
                    <a:pt x="11221" y="51166"/>
                    <a:pt x="31193" y="31193"/>
                  </a:cubicBezTo>
                  <a:cubicBezTo>
                    <a:pt x="51166" y="11221"/>
                    <a:pt x="78255" y="0"/>
                    <a:pt x="106500" y="0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719162" cy="28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418"/>
                </a:lnSpc>
              </a:pPr>
              <a:r>
                <a:rPr lang="en-US" b="true" sz="3870">
                  <a:solidFill>
                    <a:srgbClr val="FFF9F3"/>
                  </a:solidFill>
                  <a:latin typeface="Monterchi Sans Bold"/>
                  <a:ea typeface="Monterchi Sans Bold"/>
                  <a:cs typeface="Monterchi Sans Bold"/>
                  <a:sym typeface="Monterchi Sans Bold"/>
                </a:rPr>
                <a:t>AMEAÇAS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-5400000">
            <a:off x="8502684" y="-8356629"/>
            <a:ext cx="1282633" cy="18770658"/>
            <a:chOff x="0" y="0"/>
            <a:chExt cx="337813" cy="49437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061900" y="404261"/>
            <a:ext cx="4610251" cy="1134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9"/>
              </a:lnSpc>
              <a:spcBef>
                <a:spcPct val="0"/>
              </a:spcBef>
            </a:pPr>
            <a:r>
              <a:rPr lang="en-US" sz="6706">
                <a:solidFill>
                  <a:srgbClr val="FFF9F3"/>
                </a:solidFill>
                <a:latin typeface="Anton"/>
                <a:ea typeface="Anton"/>
                <a:cs typeface="Anton"/>
                <a:sym typeface="Anton"/>
              </a:rPr>
              <a:t>FOFA (SWOT)</a:t>
            </a:r>
          </a:p>
        </p:txBody>
      </p:sp>
      <p:grpSp>
        <p:nvGrpSpPr>
          <p:cNvPr name="Group 20" id="20"/>
          <p:cNvGrpSpPr/>
          <p:nvPr/>
        </p:nvGrpSpPr>
        <p:grpSpPr>
          <a:xfrm rot="-5400000">
            <a:off x="8512971" y="857949"/>
            <a:ext cx="1262058" cy="18770658"/>
            <a:chOff x="0" y="0"/>
            <a:chExt cx="332394" cy="49437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2394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2394">
                  <a:moveTo>
                    <a:pt x="0" y="0"/>
                  </a:moveTo>
                  <a:lnTo>
                    <a:pt x="332394" y="0"/>
                  </a:lnTo>
                  <a:lnTo>
                    <a:pt x="332394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32394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529984" y="-8356629"/>
            <a:ext cx="1282633" cy="18770658"/>
            <a:chOff x="0" y="0"/>
            <a:chExt cx="337813" cy="494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502684" y="926822"/>
            <a:ext cx="1282633" cy="18770658"/>
            <a:chOff x="0" y="0"/>
            <a:chExt cx="337813" cy="49437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7813" cy="4943713"/>
            </a:xfrm>
            <a:custGeom>
              <a:avLst/>
              <a:gdLst/>
              <a:ahLst/>
              <a:cxnLst/>
              <a:rect r="r" b="b" t="t" l="l"/>
              <a:pathLst>
                <a:path h="4943713" w="337813">
                  <a:moveTo>
                    <a:pt x="0" y="0"/>
                  </a:moveTo>
                  <a:lnTo>
                    <a:pt x="337813" y="0"/>
                  </a:lnTo>
                  <a:lnTo>
                    <a:pt x="337813" y="4943713"/>
                  </a:lnTo>
                  <a:lnTo>
                    <a:pt x="0" y="4943713"/>
                  </a:lnTo>
                  <a:close/>
                </a:path>
              </a:pathLst>
            </a:custGeom>
            <a:solidFill>
              <a:srgbClr val="414B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37813" cy="49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09381" y="4467786"/>
            <a:ext cx="15649919" cy="290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74"/>
              </a:lnSpc>
            </a:pPr>
            <a:r>
              <a:rPr lang="en-US" sz="22344">
                <a:solidFill>
                  <a:srgbClr val="414B3B"/>
                </a:solidFill>
                <a:latin typeface="Anton"/>
                <a:ea typeface="Anton"/>
                <a:cs typeface="Anton"/>
                <a:sym typeface="Anton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DAHSTCpPam4</dc:identifier>
  <dcterms:modified xsi:type="dcterms:W3CDTF">2011-08-01T06:04:30Z</dcterms:modified>
  <cp:revision>1</cp:revision>
  <dc:title>TCC</dc:title>
</cp:coreProperties>
</file>