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Anton" panose="020B0604020202020204" charset="0"/>
      <p:regular r:id="rId11"/>
    </p:embeddedFon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Monterchi Sans" panose="020B0604020202020204" charset="0"/>
      <p:regular r:id="rId16"/>
    </p:embeddedFont>
    <p:embeddedFont>
      <p:font typeface="Monterchi Sans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2" d="100"/>
          <a:sy n="72" d="100"/>
        </p:scale>
        <p:origin x="65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19041" y="3889562"/>
            <a:ext cx="15649919" cy="2746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531"/>
              </a:lnSpc>
            </a:pPr>
            <a:r>
              <a:rPr lang="en-US" sz="10856">
                <a:solidFill>
                  <a:srgbClr val="5D5340"/>
                </a:solidFill>
                <a:latin typeface="Anton"/>
                <a:ea typeface="Anton"/>
                <a:cs typeface="Anton"/>
                <a:sym typeface="Anton"/>
              </a:rPr>
              <a:t>SISTEMA WEB DE CATÁLOGOS DE JOGOS INDIES</a:t>
            </a:r>
          </a:p>
        </p:txBody>
      </p:sp>
      <p:grpSp>
        <p:nvGrpSpPr>
          <p:cNvPr id="3" name="Group 3"/>
          <p:cNvGrpSpPr/>
          <p:nvPr/>
        </p:nvGrpSpPr>
        <p:grpSpPr>
          <a:xfrm rot="-5400000">
            <a:off x="8502684" y="-8356629"/>
            <a:ext cx="1282633" cy="18770658"/>
            <a:chOff x="0" y="0"/>
            <a:chExt cx="337813" cy="494371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 rot="-5400000">
            <a:off x="8261355" y="263275"/>
            <a:ext cx="1282633" cy="18770658"/>
            <a:chOff x="0" y="0"/>
            <a:chExt cx="337813" cy="494371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151257" y="2786012"/>
            <a:ext cx="4390831" cy="1451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1891"/>
              </a:lnSpc>
            </a:pPr>
            <a:r>
              <a:rPr lang="en-US" sz="8493">
                <a:solidFill>
                  <a:srgbClr val="5D5340"/>
                </a:solidFill>
                <a:latin typeface="Anton"/>
                <a:ea typeface="Anton"/>
                <a:cs typeface="Anton"/>
                <a:sym typeface="Anton"/>
              </a:rPr>
              <a:t>PROBLEMA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4077700"/>
            <a:ext cx="16230600" cy="1073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36"/>
              </a:lnSpc>
            </a:pPr>
            <a:r>
              <a:rPr lang="en-US" sz="3097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Desenvolvedores de jogos indies enfrentam grande dificuldade para divulgar seus jogos. Sem grandes orçamentos de marketing, é quase impossível competir com a visibilidade dos jogos Triple A e grandes empresas do setor.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9673194" y="6278674"/>
            <a:ext cx="7586106" cy="2089089"/>
            <a:chOff x="0" y="0"/>
            <a:chExt cx="1997987" cy="55021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97987" cy="550213"/>
            </a:xfrm>
            <a:custGeom>
              <a:avLst/>
              <a:gdLst/>
              <a:ahLst/>
              <a:cxnLst/>
              <a:rect l="l" t="t" r="r" b="b"/>
              <a:pathLst>
                <a:path w="1997987" h="550213">
                  <a:moveTo>
                    <a:pt x="52048" y="0"/>
                  </a:moveTo>
                  <a:lnTo>
                    <a:pt x="1945939" y="0"/>
                  </a:lnTo>
                  <a:cubicBezTo>
                    <a:pt x="1974684" y="0"/>
                    <a:pt x="1997987" y="23302"/>
                    <a:pt x="1997987" y="52048"/>
                  </a:cubicBezTo>
                  <a:lnTo>
                    <a:pt x="1997987" y="498165"/>
                  </a:lnTo>
                  <a:cubicBezTo>
                    <a:pt x="1997987" y="526910"/>
                    <a:pt x="1974684" y="550213"/>
                    <a:pt x="1945939" y="550213"/>
                  </a:cubicBezTo>
                  <a:lnTo>
                    <a:pt x="52048" y="550213"/>
                  </a:lnTo>
                  <a:cubicBezTo>
                    <a:pt x="23302" y="550213"/>
                    <a:pt x="0" y="526910"/>
                    <a:pt x="0" y="498165"/>
                  </a:cubicBezTo>
                  <a:lnTo>
                    <a:pt x="0" y="52048"/>
                  </a:lnTo>
                  <a:cubicBezTo>
                    <a:pt x="0" y="23302"/>
                    <a:pt x="23302" y="0"/>
                    <a:pt x="52048" y="0"/>
                  </a:cubicBezTo>
                  <a:close/>
                </a:path>
              </a:pathLst>
            </a:custGeom>
            <a:solidFill>
              <a:srgbClr val="A7C396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1997987" cy="5787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086120" y="6518295"/>
            <a:ext cx="6987389" cy="1552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90"/>
              </a:lnSpc>
            </a:pPr>
            <a:r>
              <a:rPr lang="en-US" sz="2993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Grandes empresas dominam as plataformas de divulgação, tornando difícil para o indie dev alcançar seu público-alvo.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550637" y="5580165"/>
            <a:ext cx="3194441" cy="663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415"/>
              </a:lnSpc>
            </a:pPr>
            <a:r>
              <a:rPr lang="en-US" sz="3867" b="1">
                <a:solidFill>
                  <a:srgbClr val="2B3425"/>
                </a:solidFill>
                <a:latin typeface="Monterchi Sans Bold"/>
                <a:ea typeface="Monterchi Sans Bold"/>
                <a:cs typeface="Monterchi Sans Bold"/>
                <a:sym typeface="Monterchi Sans Bold"/>
              </a:rPr>
              <a:t>Concorrência</a:t>
            </a:r>
          </a:p>
        </p:txBody>
      </p:sp>
      <p:grpSp>
        <p:nvGrpSpPr>
          <p:cNvPr id="9" name="Group 9"/>
          <p:cNvGrpSpPr/>
          <p:nvPr/>
        </p:nvGrpSpPr>
        <p:grpSpPr>
          <a:xfrm rot="-5400000">
            <a:off x="8744013" y="-8356629"/>
            <a:ext cx="1282633" cy="18770658"/>
            <a:chOff x="0" y="0"/>
            <a:chExt cx="337813" cy="494371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 rot="-5400000">
            <a:off x="8744013" y="901671"/>
            <a:ext cx="1282633" cy="18770658"/>
            <a:chOff x="0" y="0"/>
            <a:chExt cx="337813" cy="494371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151257" y="6278674"/>
            <a:ext cx="7586106" cy="2089089"/>
            <a:chOff x="0" y="0"/>
            <a:chExt cx="1997987" cy="55021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7987" cy="550213"/>
            </a:xfrm>
            <a:custGeom>
              <a:avLst/>
              <a:gdLst/>
              <a:ahLst/>
              <a:cxnLst/>
              <a:rect l="l" t="t" r="r" b="b"/>
              <a:pathLst>
                <a:path w="1997987" h="550213">
                  <a:moveTo>
                    <a:pt x="52048" y="0"/>
                  </a:moveTo>
                  <a:lnTo>
                    <a:pt x="1945939" y="0"/>
                  </a:lnTo>
                  <a:cubicBezTo>
                    <a:pt x="1974684" y="0"/>
                    <a:pt x="1997987" y="23302"/>
                    <a:pt x="1997987" y="52048"/>
                  </a:cubicBezTo>
                  <a:lnTo>
                    <a:pt x="1997987" y="498165"/>
                  </a:lnTo>
                  <a:cubicBezTo>
                    <a:pt x="1997987" y="526910"/>
                    <a:pt x="1974684" y="550213"/>
                    <a:pt x="1945939" y="550213"/>
                  </a:cubicBezTo>
                  <a:lnTo>
                    <a:pt x="52048" y="550213"/>
                  </a:lnTo>
                  <a:cubicBezTo>
                    <a:pt x="23302" y="550213"/>
                    <a:pt x="0" y="526910"/>
                    <a:pt x="0" y="498165"/>
                  </a:cubicBezTo>
                  <a:lnTo>
                    <a:pt x="0" y="52048"/>
                  </a:lnTo>
                  <a:cubicBezTo>
                    <a:pt x="0" y="23302"/>
                    <a:pt x="23302" y="0"/>
                    <a:pt x="52048" y="0"/>
                  </a:cubicBezTo>
                  <a:close/>
                </a:path>
              </a:pathLst>
            </a:custGeom>
            <a:solidFill>
              <a:srgbClr val="A7C396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28575"/>
              <a:ext cx="1997987" cy="57878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564184" y="6518295"/>
            <a:ext cx="6987389" cy="15527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190"/>
              </a:lnSpc>
            </a:pPr>
            <a:r>
              <a:rPr lang="en-US" sz="2993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Jogos indies ficam invisíveis no mercado, perdendo espaço para títulos com alto investimento em publicidade.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28700" y="5580165"/>
            <a:ext cx="3194441" cy="663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415"/>
              </a:lnSpc>
            </a:pPr>
            <a:r>
              <a:rPr lang="en-US" sz="3867" b="1">
                <a:solidFill>
                  <a:srgbClr val="2B3425"/>
                </a:solidFill>
                <a:latin typeface="Monterchi Sans Bold"/>
                <a:ea typeface="Monterchi Sans Bold"/>
                <a:cs typeface="Monterchi Sans Bold"/>
                <a:sym typeface="Monterchi Sans Bold"/>
              </a:rPr>
              <a:t>Visibilidade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8591707" y="-8356629"/>
            <a:ext cx="1282633" cy="18770658"/>
            <a:chOff x="0" y="0"/>
            <a:chExt cx="337813" cy="494371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0" y="1670016"/>
            <a:ext cx="8566162" cy="8020344"/>
          </a:xfrm>
          <a:custGeom>
            <a:avLst/>
            <a:gdLst/>
            <a:ahLst/>
            <a:cxnLst/>
            <a:rect l="l" t="t" r="r" b="b"/>
            <a:pathLst>
              <a:path w="8566162" h="8020344">
                <a:moveTo>
                  <a:pt x="0" y="0"/>
                </a:moveTo>
                <a:lnTo>
                  <a:pt x="8566162" y="0"/>
                </a:lnTo>
                <a:lnTo>
                  <a:pt x="8566162" y="8020345"/>
                </a:lnTo>
                <a:lnTo>
                  <a:pt x="0" y="80203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8707" r="-50891" b="-1891"/>
            </a:stretch>
          </a:blipFill>
        </p:spPr>
      </p:sp>
      <p:grpSp>
        <p:nvGrpSpPr>
          <p:cNvPr id="6" name="Group 6"/>
          <p:cNvGrpSpPr/>
          <p:nvPr/>
        </p:nvGrpSpPr>
        <p:grpSpPr>
          <a:xfrm rot="-5400000">
            <a:off x="8744013" y="901671"/>
            <a:ext cx="1282633" cy="18770658"/>
            <a:chOff x="0" y="0"/>
            <a:chExt cx="337813" cy="494371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233023" y="2836696"/>
            <a:ext cx="6682598" cy="1451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1891"/>
              </a:lnSpc>
            </a:pPr>
            <a:r>
              <a:rPr lang="en-US" sz="8493">
                <a:solidFill>
                  <a:srgbClr val="5D5340"/>
                </a:solidFill>
                <a:latin typeface="Anton"/>
                <a:ea typeface="Anton"/>
                <a:cs typeface="Anton"/>
                <a:sym typeface="Anton"/>
              </a:rPr>
              <a:t>OBJETIVO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805270" y="5181453"/>
            <a:ext cx="8680347" cy="2233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76"/>
              </a:lnSpc>
            </a:pPr>
            <a:r>
              <a:rPr lang="en-US" sz="3197">
                <a:solidFill>
                  <a:srgbClr val="5D534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Criar uma plataforma web que auxilie desenvolvedores de jogos indies a divulgar seus trabalhos de forma acessível e eficiente, oferecendo visibilidade para projetos independentes e conectando criadores ao seu público.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95310" y="2222558"/>
            <a:ext cx="13180039" cy="1451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891"/>
              </a:lnSpc>
            </a:pPr>
            <a:r>
              <a:rPr lang="en-US" sz="8493">
                <a:solidFill>
                  <a:srgbClr val="414B3B"/>
                </a:solidFill>
                <a:latin typeface="Anton"/>
                <a:ea typeface="Anton"/>
                <a:cs typeface="Anton"/>
                <a:sym typeface="Anton"/>
              </a:rPr>
              <a:t>FUNCIONALIDADES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244901" y="3927804"/>
            <a:ext cx="5381802" cy="795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75"/>
              </a:lnSpc>
            </a:pPr>
            <a:r>
              <a:rPr lang="en-US" sz="4696" b="1">
                <a:solidFill>
                  <a:srgbClr val="414B3B"/>
                </a:solidFill>
                <a:latin typeface="Monterchi Sans Bold"/>
                <a:ea typeface="Monterchi Sans Bold"/>
                <a:cs typeface="Monterchi Sans Bold"/>
                <a:sym typeface="Monterchi Sans Bold"/>
              </a:rPr>
              <a:t>Vitrine de Jogos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244901" y="4656149"/>
            <a:ext cx="7254590" cy="1092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6"/>
              </a:lnSpc>
            </a:pPr>
            <a:r>
              <a:rPr lang="en-US" sz="3119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Exibição dos jogos indie cadastrados, com capa, descrição e informações do desenvolvedor.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44901" y="6558070"/>
            <a:ext cx="5381802" cy="795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75"/>
              </a:lnSpc>
            </a:pPr>
            <a:r>
              <a:rPr lang="en-US" sz="4696" b="1">
                <a:solidFill>
                  <a:srgbClr val="414B3B"/>
                </a:solidFill>
                <a:latin typeface="Monterchi Sans Bold"/>
                <a:ea typeface="Monterchi Sans Bold"/>
                <a:cs typeface="Monterchi Sans Bold"/>
                <a:sym typeface="Monterchi Sans Bold"/>
              </a:rPr>
              <a:t>Sistema de Feedbacks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44901" y="7286415"/>
            <a:ext cx="7254590" cy="164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6"/>
              </a:lnSpc>
            </a:pPr>
            <a:r>
              <a:rPr lang="en-US" sz="3119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Usuários podem avaliar e comentar os jogos, ajudando desenvolvedores a melhorarem seus projetos.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766433" y="3927804"/>
            <a:ext cx="5381802" cy="795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75"/>
              </a:lnSpc>
            </a:pPr>
            <a:r>
              <a:rPr lang="en-US" sz="4696" b="1">
                <a:solidFill>
                  <a:srgbClr val="414B3B"/>
                </a:solidFill>
                <a:latin typeface="Monterchi Sans Bold"/>
                <a:ea typeface="Monterchi Sans Bold"/>
                <a:cs typeface="Monterchi Sans Bold"/>
                <a:sym typeface="Monterchi Sans Bold"/>
              </a:rPr>
              <a:t>Filtragem por Categorias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766433" y="4656149"/>
            <a:ext cx="7276667" cy="1092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6"/>
              </a:lnSpc>
            </a:pPr>
            <a:r>
              <a:rPr lang="en-US" sz="3119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Busca e filtros por gênero, tipo e outras categorias para facilitar a descoberta de jogos.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62572" y="6558070"/>
            <a:ext cx="5381802" cy="795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575"/>
              </a:lnSpc>
            </a:pPr>
            <a:r>
              <a:rPr lang="en-US" sz="4696" b="1">
                <a:solidFill>
                  <a:srgbClr val="414B3B"/>
                </a:solidFill>
                <a:latin typeface="Monterchi Sans Bold"/>
                <a:ea typeface="Monterchi Sans Bold"/>
                <a:cs typeface="Monterchi Sans Bold"/>
                <a:sym typeface="Monterchi Sans Bold"/>
              </a:rPr>
              <a:t>Links Externos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62572" y="7286415"/>
            <a:ext cx="7080527" cy="164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6"/>
              </a:lnSpc>
            </a:pPr>
            <a:r>
              <a:rPr lang="en-US" sz="3119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Redirecionamento para plataformas como GitHub, Discord e Steam para download ou compra do jogo.</a:t>
            </a:r>
          </a:p>
        </p:txBody>
      </p:sp>
      <p:grpSp>
        <p:nvGrpSpPr>
          <p:cNvPr id="11" name="Group 11"/>
          <p:cNvGrpSpPr/>
          <p:nvPr/>
        </p:nvGrpSpPr>
        <p:grpSpPr>
          <a:xfrm rot="-5400000">
            <a:off x="8744013" y="-8356629"/>
            <a:ext cx="1282633" cy="18770658"/>
            <a:chOff x="0" y="0"/>
            <a:chExt cx="337813" cy="494371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2B3425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 rot="-5400000">
            <a:off x="8502684" y="901671"/>
            <a:ext cx="1282633" cy="18770658"/>
            <a:chOff x="0" y="0"/>
            <a:chExt cx="337813" cy="494371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2B342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8529984" y="-8356629"/>
            <a:ext cx="1282633" cy="18770658"/>
            <a:chOff x="0" y="0"/>
            <a:chExt cx="337813" cy="494371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6374319"/>
            <a:ext cx="18288000" cy="3912681"/>
            <a:chOff x="0" y="0"/>
            <a:chExt cx="2833290" cy="60617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3290" cy="606177"/>
            </a:xfrm>
            <a:custGeom>
              <a:avLst/>
              <a:gdLst/>
              <a:ahLst/>
              <a:cxnLst/>
              <a:rect l="l" t="t" r="r" b="b"/>
              <a:pathLst>
                <a:path w="2833290" h="606177">
                  <a:moveTo>
                    <a:pt x="0" y="0"/>
                  </a:moveTo>
                  <a:lnTo>
                    <a:pt x="2833290" y="0"/>
                  </a:lnTo>
                  <a:lnTo>
                    <a:pt x="2833290" y="606177"/>
                  </a:lnTo>
                  <a:lnTo>
                    <a:pt x="0" y="606177"/>
                  </a:lnTo>
                  <a:close/>
                </a:path>
              </a:pathLst>
            </a:custGeom>
            <a:blipFill>
              <a:blip r:embed="rId2"/>
              <a:stretch>
                <a:fillRect t="-81100" b="-81100"/>
              </a:stretch>
            </a:blipFill>
          </p:spPr>
        </p:sp>
      </p:grpSp>
      <p:sp>
        <p:nvSpPr>
          <p:cNvPr id="7" name="TextBox 7"/>
          <p:cNvSpPr txBox="1"/>
          <p:nvPr/>
        </p:nvSpPr>
        <p:spPr>
          <a:xfrm>
            <a:off x="2553980" y="2109024"/>
            <a:ext cx="13180039" cy="1451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1891"/>
              </a:lnSpc>
            </a:pPr>
            <a:r>
              <a:rPr lang="en-US" sz="8493">
                <a:solidFill>
                  <a:srgbClr val="5D5340"/>
                </a:solidFill>
                <a:latin typeface="Anton"/>
                <a:ea typeface="Anton"/>
                <a:cs typeface="Anton"/>
                <a:sym typeface="Anton"/>
              </a:rPr>
              <a:t>DIFERENCIAL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81825" y="3712639"/>
            <a:ext cx="14524349" cy="1671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6"/>
              </a:lnSpc>
            </a:pPr>
            <a:r>
              <a:rPr lang="en-US" sz="3197">
                <a:solidFill>
                  <a:srgbClr val="5D534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O grande diferencial do sistema é uma IA integrada que publica automaticamente os jogos cadastrados no Instagram. Com isso, os desenvolvedores ganham visibilidade nas redes sociais sem esforço extra, ampliando o alcance dos seus jogos de forma simples e automatizada.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596339" y="1670016"/>
            <a:ext cx="7691661" cy="8000818"/>
            <a:chOff x="0" y="0"/>
            <a:chExt cx="1422585" cy="147976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22585" cy="1479765"/>
            </a:xfrm>
            <a:custGeom>
              <a:avLst/>
              <a:gdLst/>
              <a:ahLst/>
              <a:cxnLst/>
              <a:rect l="l" t="t" r="r" b="b"/>
              <a:pathLst>
                <a:path w="1422585" h="1479765">
                  <a:moveTo>
                    <a:pt x="0" y="0"/>
                  </a:moveTo>
                  <a:lnTo>
                    <a:pt x="1422585" y="0"/>
                  </a:lnTo>
                  <a:lnTo>
                    <a:pt x="1422585" y="1479765"/>
                  </a:lnTo>
                  <a:lnTo>
                    <a:pt x="0" y="1479765"/>
                  </a:lnTo>
                  <a:close/>
                </a:path>
              </a:pathLst>
            </a:custGeom>
            <a:blipFill>
              <a:blip r:embed="rId2"/>
              <a:stretch>
                <a:fillRect l="-28014" r="-28014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-5400000">
            <a:off x="8529984" y="-8356629"/>
            <a:ext cx="1282633" cy="18770658"/>
            <a:chOff x="0" y="0"/>
            <a:chExt cx="337813" cy="494371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 rot="-5400000">
            <a:off x="8502684" y="926822"/>
            <a:ext cx="1282633" cy="18770658"/>
            <a:chOff x="0" y="0"/>
            <a:chExt cx="337813" cy="494371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613104" y="1897206"/>
            <a:ext cx="7244742" cy="13850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1332"/>
              </a:lnSpc>
            </a:pPr>
            <a:r>
              <a:rPr lang="en-US" sz="8094">
                <a:solidFill>
                  <a:srgbClr val="414B3B"/>
                </a:solidFill>
                <a:latin typeface="Anton"/>
                <a:ea typeface="Anton"/>
                <a:cs typeface="Anton"/>
                <a:sym typeface="Anton"/>
              </a:rPr>
              <a:t>TECNOLOGIAS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28700" y="3568034"/>
            <a:ext cx="8115300" cy="1671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76"/>
              </a:lnSpc>
            </a:pPr>
            <a:r>
              <a:rPr lang="en-US" sz="3197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React — Front-end moderno e responsivo, ideal para criar interfaces dinâmicas e interativas com boa experiência ao usuário.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5525104"/>
            <a:ext cx="8115300" cy="1671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76"/>
              </a:lnSpc>
            </a:pP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Node.js — Back-end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escalável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 e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eficiente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,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permite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 lidar com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múltiplas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requisições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simultâneas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 com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alta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 performance.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7482174"/>
            <a:ext cx="8115300" cy="1671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476"/>
              </a:lnSpc>
            </a:pP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MySQL — Banco de dados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relacional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confiável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,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estruturado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 para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armazenar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jogos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,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usuários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 e feedbacks com </a:t>
            </a:r>
            <a:r>
              <a:rPr lang="en-US" sz="3197" dirty="0" err="1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integridade</a:t>
            </a:r>
            <a:r>
              <a:rPr lang="en-US" sz="3197" dirty="0">
                <a:solidFill>
                  <a:srgbClr val="414B3B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8502684" y="-8246478"/>
            <a:ext cx="1282633" cy="18288002"/>
            <a:chOff x="0" y="0"/>
            <a:chExt cx="337813" cy="494371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5400000">
            <a:off x="8754300" y="911958"/>
            <a:ext cx="1262058" cy="18770658"/>
            <a:chOff x="0" y="0"/>
            <a:chExt cx="332394" cy="494371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32394" cy="4943713"/>
            </a:xfrm>
            <a:custGeom>
              <a:avLst/>
              <a:gdLst/>
              <a:ahLst/>
              <a:cxnLst/>
              <a:rect l="l" t="t" r="r" b="b"/>
              <a:pathLst>
                <a:path w="332394" h="4943713">
                  <a:moveTo>
                    <a:pt x="0" y="0"/>
                  </a:moveTo>
                  <a:lnTo>
                    <a:pt x="332394" y="0"/>
                  </a:lnTo>
                  <a:lnTo>
                    <a:pt x="332394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332394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80919" y="2928840"/>
            <a:ext cx="7586106" cy="5590953"/>
            <a:chOff x="0" y="0"/>
            <a:chExt cx="1997987" cy="147251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7987" cy="1472514"/>
            </a:xfrm>
            <a:custGeom>
              <a:avLst/>
              <a:gdLst/>
              <a:ahLst/>
              <a:cxnLst/>
              <a:rect l="l" t="t" r="r" b="b"/>
              <a:pathLst>
                <a:path w="1997987" h="1472514">
                  <a:moveTo>
                    <a:pt x="52048" y="0"/>
                  </a:moveTo>
                  <a:lnTo>
                    <a:pt x="1945939" y="0"/>
                  </a:lnTo>
                  <a:cubicBezTo>
                    <a:pt x="1974684" y="0"/>
                    <a:pt x="1997987" y="23302"/>
                    <a:pt x="1997987" y="52048"/>
                  </a:cubicBezTo>
                  <a:lnTo>
                    <a:pt x="1997987" y="1420467"/>
                  </a:lnTo>
                  <a:cubicBezTo>
                    <a:pt x="1997987" y="1449212"/>
                    <a:pt x="1974684" y="1472514"/>
                    <a:pt x="1945939" y="1472514"/>
                  </a:cubicBezTo>
                  <a:lnTo>
                    <a:pt x="52048" y="1472514"/>
                  </a:lnTo>
                  <a:cubicBezTo>
                    <a:pt x="23302" y="1472514"/>
                    <a:pt x="0" y="1449212"/>
                    <a:pt x="0" y="1420467"/>
                  </a:cubicBezTo>
                  <a:lnTo>
                    <a:pt x="0" y="52048"/>
                  </a:lnTo>
                  <a:cubicBezTo>
                    <a:pt x="0" y="23302"/>
                    <a:pt x="23302" y="0"/>
                    <a:pt x="52048" y="0"/>
                  </a:cubicBezTo>
                  <a:close/>
                </a:path>
              </a:pathLst>
            </a:custGeom>
            <a:solidFill>
              <a:srgbClr val="5170FF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28575"/>
              <a:ext cx="1997987" cy="1501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3195319"/>
            <a:ext cx="6817817" cy="532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Foco em um nicho específico: Atende diretamente às dores de uma comunidade engajada e carente de espaço.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Automatização do marketing: A divulgação no Instagram por IA economiza tempo e dinheiro do desenvolvedor.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Hub centralizador: Facilita para o jogador encontrar projetos independentes em um só lugar.</a:t>
            </a:r>
          </a:p>
          <a:p>
            <a:pPr marL="0" lvl="0" indent="0" algn="l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Monterchi Sans"/>
              <a:ea typeface="Monterchi Sans"/>
              <a:cs typeface="Monterchi Sans"/>
              <a:sym typeface="Monterchi Sans"/>
            </a:endParaRPr>
          </a:p>
        </p:txBody>
      </p:sp>
      <p:grpSp>
        <p:nvGrpSpPr>
          <p:cNvPr id="12" name="Group 12"/>
          <p:cNvGrpSpPr/>
          <p:nvPr/>
        </p:nvGrpSpPr>
        <p:grpSpPr>
          <a:xfrm>
            <a:off x="9673194" y="2900148"/>
            <a:ext cx="7586106" cy="5619646"/>
            <a:chOff x="0" y="0"/>
            <a:chExt cx="1997987" cy="148007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7987" cy="1480071"/>
            </a:xfrm>
            <a:custGeom>
              <a:avLst/>
              <a:gdLst/>
              <a:ahLst/>
              <a:cxnLst/>
              <a:rect l="l" t="t" r="r" b="b"/>
              <a:pathLst>
                <a:path w="1997987" h="1480071">
                  <a:moveTo>
                    <a:pt x="52048" y="0"/>
                  </a:moveTo>
                  <a:lnTo>
                    <a:pt x="1945939" y="0"/>
                  </a:lnTo>
                  <a:cubicBezTo>
                    <a:pt x="1974684" y="0"/>
                    <a:pt x="1997987" y="23302"/>
                    <a:pt x="1997987" y="52048"/>
                  </a:cubicBezTo>
                  <a:lnTo>
                    <a:pt x="1997987" y="1428024"/>
                  </a:lnTo>
                  <a:cubicBezTo>
                    <a:pt x="1997987" y="1456769"/>
                    <a:pt x="1974684" y="1480071"/>
                    <a:pt x="1945939" y="1480071"/>
                  </a:cubicBezTo>
                  <a:lnTo>
                    <a:pt x="52048" y="1480071"/>
                  </a:lnTo>
                  <a:cubicBezTo>
                    <a:pt x="23302" y="1480071"/>
                    <a:pt x="0" y="1456769"/>
                    <a:pt x="0" y="1428024"/>
                  </a:cubicBezTo>
                  <a:lnTo>
                    <a:pt x="0" y="52048"/>
                  </a:lnTo>
                  <a:cubicBezTo>
                    <a:pt x="0" y="23302"/>
                    <a:pt x="23302" y="0"/>
                    <a:pt x="52048" y="0"/>
                  </a:cubicBezTo>
                  <a:close/>
                </a:path>
              </a:pathLst>
            </a:custGeom>
            <a:solidFill>
              <a:srgbClr val="7ED957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1997987" cy="150864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972552" y="3186570"/>
            <a:ext cx="6987389" cy="532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Crescimento do mercado indie: O setor independente ganha cada vez mais relevância e busca por alternativas às lojas gigantes.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Engajamento em redes sociais: O apelo visual dos jogos no Instagram atrai um público jovem que consome bastante conteúdo indie.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Parcerias com comunidades: Possibilidade de colaborar com faculdades, Game Jams e estúdios independentes locais.</a:t>
            </a:r>
          </a:p>
          <a:p>
            <a:pPr marL="0" lvl="0" indent="0" algn="l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Monterchi Sans"/>
              <a:ea typeface="Monterchi Sans"/>
              <a:cs typeface="Monterchi Sans"/>
              <a:sym typeface="Monterchi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838874" y="273084"/>
            <a:ext cx="4610251" cy="1134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389"/>
              </a:lnSpc>
              <a:spcBef>
                <a:spcPct val="0"/>
              </a:spcBef>
            </a:pPr>
            <a:r>
              <a:rPr lang="en-US" sz="6706">
                <a:solidFill>
                  <a:srgbClr val="FFF9F3"/>
                </a:solidFill>
                <a:latin typeface="Anton"/>
                <a:ea typeface="Anton"/>
                <a:cs typeface="Anton"/>
                <a:sym typeface="Anton"/>
              </a:rPr>
              <a:t>FOFA (SWOT)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780919" y="2133178"/>
            <a:ext cx="1989891" cy="1182550"/>
            <a:chOff x="0" y="-38100"/>
            <a:chExt cx="524086" cy="311453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24086" cy="235253"/>
            </a:xfrm>
            <a:custGeom>
              <a:avLst/>
              <a:gdLst/>
              <a:ahLst/>
              <a:cxnLst/>
              <a:rect l="l" t="t" r="r" b="b"/>
              <a:pathLst>
                <a:path w="524086" h="235253">
                  <a:moveTo>
                    <a:pt x="117627" y="0"/>
                  </a:moveTo>
                  <a:lnTo>
                    <a:pt x="406460" y="0"/>
                  </a:lnTo>
                  <a:cubicBezTo>
                    <a:pt x="437656" y="0"/>
                    <a:pt x="467575" y="12393"/>
                    <a:pt x="489634" y="34452"/>
                  </a:cubicBezTo>
                  <a:cubicBezTo>
                    <a:pt x="511694" y="56511"/>
                    <a:pt x="524086" y="86430"/>
                    <a:pt x="524086" y="117627"/>
                  </a:cubicBezTo>
                  <a:lnTo>
                    <a:pt x="524086" y="117627"/>
                  </a:lnTo>
                  <a:cubicBezTo>
                    <a:pt x="524086" y="148823"/>
                    <a:pt x="511694" y="178742"/>
                    <a:pt x="489634" y="200801"/>
                  </a:cubicBezTo>
                  <a:cubicBezTo>
                    <a:pt x="467575" y="222861"/>
                    <a:pt x="437656" y="235253"/>
                    <a:pt x="406460" y="235253"/>
                  </a:cubicBezTo>
                  <a:lnTo>
                    <a:pt x="117627" y="235253"/>
                  </a:lnTo>
                  <a:cubicBezTo>
                    <a:pt x="86430" y="235253"/>
                    <a:pt x="56511" y="222861"/>
                    <a:pt x="34452" y="200801"/>
                  </a:cubicBezTo>
                  <a:cubicBezTo>
                    <a:pt x="12393" y="178742"/>
                    <a:pt x="0" y="148823"/>
                    <a:pt x="0" y="117627"/>
                  </a:cubicBezTo>
                  <a:lnTo>
                    <a:pt x="0" y="117627"/>
                  </a:lnTo>
                  <a:cubicBezTo>
                    <a:pt x="0" y="86430"/>
                    <a:pt x="12393" y="56511"/>
                    <a:pt x="34452" y="34452"/>
                  </a:cubicBezTo>
                  <a:cubicBezTo>
                    <a:pt x="56511" y="12393"/>
                    <a:pt x="86430" y="0"/>
                    <a:pt x="117627" y="0"/>
                  </a:cubicBezTo>
                  <a:close/>
                </a:path>
              </a:pathLst>
            </a:custGeom>
            <a:solidFill>
              <a:srgbClr val="004AAD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524086" cy="3114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5418"/>
                </a:lnSpc>
              </a:pPr>
              <a:r>
                <a:rPr lang="en-US" sz="3870" b="1" dirty="0">
                  <a:solidFill>
                    <a:srgbClr val="FFF9F3"/>
                  </a:solidFill>
                  <a:latin typeface="Monterchi Sans Bold"/>
                  <a:ea typeface="Monterchi Sans Bold"/>
                  <a:cs typeface="Monterchi Sans Bold"/>
                  <a:sym typeface="Monterchi Sans Bold"/>
                </a:rPr>
                <a:t>FORÇA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71120" y="2133178"/>
            <a:ext cx="4460327" cy="1182550"/>
            <a:chOff x="0" y="-38100"/>
            <a:chExt cx="1174737" cy="31145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169844" cy="235253"/>
            </a:xfrm>
            <a:custGeom>
              <a:avLst/>
              <a:gdLst/>
              <a:ahLst/>
              <a:cxnLst/>
              <a:rect l="l" t="t" r="r" b="b"/>
              <a:pathLst>
                <a:path w="1169844" h="235253">
                  <a:moveTo>
                    <a:pt x="88892" y="0"/>
                  </a:moveTo>
                  <a:lnTo>
                    <a:pt x="1080952" y="0"/>
                  </a:lnTo>
                  <a:cubicBezTo>
                    <a:pt x="1130046" y="0"/>
                    <a:pt x="1169844" y="39798"/>
                    <a:pt x="1169844" y="88892"/>
                  </a:cubicBezTo>
                  <a:lnTo>
                    <a:pt x="1169844" y="146361"/>
                  </a:lnTo>
                  <a:cubicBezTo>
                    <a:pt x="1169844" y="169937"/>
                    <a:pt x="1160479" y="192547"/>
                    <a:pt x="1143808" y="209217"/>
                  </a:cubicBezTo>
                  <a:cubicBezTo>
                    <a:pt x="1127138" y="225888"/>
                    <a:pt x="1104528" y="235253"/>
                    <a:pt x="1080952" y="235253"/>
                  </a:cubicBezTo>
                  <a:lnTo>
                    <a:pt x="88892" y="235253"/>
                  </a:lnTo>
                  <a:cubicBezTo>
                    <a:pt x="65317" y="235253"/>
                    <a:pt x="42707" y="225888"/>
                    <a:pt x="26036" y="209217"/>
                  </a:cubicBezTo>
                  <a:cubicBezTo>
                    <a:pt x="9365" y="192547"/>
                    <a:pt x="0" y="169937"/>
                    <a:pt x="0" y="146361"/>
                  </a:cubicBezTo>
                  <a:lnTo>
                    <a:pt x="0" y="88892"/>
                  </a:lnTo>
                  <a:cubicBezTo>
                    <a:pt x="0" y="65317"/>
                    <a:pt x="9365" y="42707"/>
                    <a:pt x="26036" y="26036"/>
                  </a:cubicBezTo>
                  <a:cubicBezTo>
                    <a:pt x="42707" y="9365"/>
                    <a:pt x="65317" y="0"/>
                    <a:pt x="88892" y="0"/>
                  </a:cubicBezTo>
                  <a:close/>
                </a:path>
              </a:pathLst>
            </a:custGeom>
            <a:solidFill>
              <a:srgbClr val="659E5B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4892" y="-38100"/>
              <a:ext cx="1169845" cy="3114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5418"/>
                </a:lnSpc>
              </a:pPr>
              <a:r>
                <a:rPr lang="en-US" sz="3870" b="1" dirty="0">
                  <a:solidFill>
                    <a:srgbClr val="FFF9F3"/>
                  </a:solidFill>
                  <a:latin typeface="Monterchi Sans Bold"/>
                  <a:ea typeface="Monterchi Sans Bold"/>
                  <a:cs typeface="Monterchi Sans Bold"/>
                  <a:sym typeface="Monterchi Sans Bold"/>
                </a:rPr>
                <a:t>OPORTUNIDADES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26653" y="2894544"/>
            <a:ext cx="7855204" cy="5895796"/>
            <a:chOff x="0" y="0"/>
            <a:chExt cx="1995270" cy="149756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95270" cy="1497568"/>
            </a:xfrm>
            <a:custGeom>
              <a:avLst/>
              <a:gdLst/>
              <a:ahLst/>
              <a:cxnLst/>
              <a:rect l="l" t="t" r="r" b="b"/>
              <a:pathLst>
                <a:path w="1995270" h="1497568">
                  <a:moveTo>
                    <a:pt x="50265" y="0"/>
                  </a:moveTo>
                  <a:lnTo>
                    <a:pt x="1945005" y="0"/>
                  </a:lnTo>
                  <a:cubicBezTo>
                    <a:pt x="1958336" y="0"/>
                    <a:pt x="1971121" y="5296"/>
                    <a:pt x="1980548" y="14722"/>
                  </a:cubicBezTo>
                  <a:cubicBezTo>
                    <a:pt x="1989974" y="24149"/>
                    <a:pt x="1995270" y="36934"/>
                    <a:pt x="1995270" y="50265"/>
                  </a:cubicBezTo>
                  <a:lnTo>
                    <a:pt x="1995270" y="1447304"/>
                  </a:lnTo>
                  <a:cubicBezTo>
                    <a:pt x="1995270" y="1460635"/>
                    <a:pt x="1989974" y="1473420"/>
                    <a:pt x="1980548" y="1482846"/>
                  </a:cubicBezTo>
                  <a:cubicBezTo>
                    <a:pt x="1971121" y="1492273"/>
                    <a:pt x="1958336" y="1497568"/>
                    <a:pt x="1945005" y="1497568"/>
                  </a:cubicBezTo>
                  <a:lnTo>
                    <a:pt x="50265" y="1497568"/>
                  </a:lnTo>
                  <a:cubicBezTo>
                    <a:pt x="36934" y="1497568"/>
                    <a:pt x="24149" y="1492273"/>
                    <a:pt x="14722" y="1482846"/>
                  </a:cubicBezTo>
                  <a:cubicBezTo>
                    <a:pt x="5296" y="1473420"/>
                    <a:pt x="0" y="1460635"/>
                    <a:pt x="0" y="1447304"/>
                  </a:cubicBezTo>
                  <a:lnTo>
                    <a:pt x="0" y="50265"/>
                  </a:lnTo>
                  <a:cubicBezTo>
                    <a:pt x="0" y="36934"/>
                    <a:pt x="5296" y="24149"/>
                    <a:pt x="14722" y="14722"/>
                  </a:cubicBezTo>
                  <a:cubicBezTo>
                    <a:pt x="24149" y="5296"/>
                    <a:pt x="36934" y="0"/>
                    <a:pt x="50265" y="0"/>
                  </a:cubicBezTo>
                  <a:close/>
                </a:path>
              </a:pathLst>
            </a:custGeom>
            <a:solidFill>
              <a:srgbClr val="FFD21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1995270" cy="15261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90556" y="3211170"/>
            <a:ext cx="7245101" cy="532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Dependência de terceiros: A plataforma depende de links externos (Steam, GitHub) para finalizar o acesso/compra do jogo.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Necessidade de atração inicial: O catálogo só ganha valor se conseguir atrair uma massa crítica de desenvolvedores e jogadores no início.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Limitação de conversão: A plataforma divulga, mas a decisão de compra do jogador ainda depende do apelo do próprio jogo.</a:t>
            </a:r>
          </a:p>
          <a:p>
            <a:pPr marL="0" lvl="0" indent="0" algn="l">
              <a:lnSpc>
                <a:spcPts val="4200"/>
              </a:lnSpc>
            </a:pPr>
            <a:endParaRPr lang="en-US" sz="3000">
              <a:solidFill>
                <a:srgbClr val="000000"/>
              </a:solidFill>
              <a:latin typeface="Monterchi Sans"/>
              <a:ea typeface="Monterchi Sans"/>
              <a:cs typeface="Monterchi Sans"/>
              <a:sym typeface="Monterchi Sans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9144000" y="2860089"/>
            <a:ext cx="8378658" cy="5930250"/>
            <a:chOff x="0" y="0"/>
            <a:chExt cx="1997987" cy="141413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97987" cy="1414136"/>
            </a:xfrm>
            <a:custGeom>
              <a:avLst/>
              <a:gdLst/>
              <a:ahLst/>
              <a:cxnLst/>
              <a:rect l="l" t="t" r="r" b="b"/>
              <a:pathLst>
                <a:path w="1997987" h="1414136">
                  <a:moveTo>
                    <a:pt x="47124" y="0"/>
                  </a:moveTo>
                  <a:lnTo>
                    <a:pt x="1950863" y="0"/>
                  </a:lnTo>
                  <a:cubicBezTo>
                    <a:pt x="1976888" y="0"/>
                    <a:pt x="1997987" y="21098"/>
                    <a:pt x="1997987" y="47124"/>
                  </a:cubicBezTo>
                  <a:lnTo>
                    <a:pt x="1997987" y="1367012"/>
                  </a:lnTo>
                  <a:cubicBezTo>
                    <a:pt x="1997987" y="1379510"/>
                    <a:pt x="1993022" y="1391496"/>
                    <a:pt x="1984184" y="1400334"/>
                  </a:cubicBezTo>
                  <a:cubicBezTo>
                    <a:pt x="1975347" y="1409171"/>
                    <a:pt x="1963361" y="1414136"/>
                    <a:pt x="1950863" y="1414136"/>
                  </a:cubicBezTo>
                  <a:lnTo>
                    <a:pt x="47124" y="1414136"/>
                  </a:lnTo>
                  <a:cubicBezTo>
                    <a:pt x="34626" y="1414136"/>
                    <a:pt x="22640" y="1409171"/>
                    <a:pt x="13802" y="1400334"/>
                  </a:cubicBezTo>
                  <a:cubicBezTo>
                    <a:pt x="4965" y="1391496"/>
                    <a:pt x="0" y="1379510"/>
                    <a:pt x="0" y="1367012"/>
                  </a:cubicBezTo>
                  <a:lnTo>
                    <a:pt x="0" y="47124"/>
                  </a:lnTo>
                  <a:cubicBezTo>
                    <a:pt x="0" y="34626"/>
                    <a:pt x="4965" y="22640"/>
                    <a:pt x="13802" y="13802"/>
                  </a:cubicBezTo>
                  <a:cubicBezTo>
                    <a:pt x="22640" y="4965"/>
                    <a:pt x="34626" y="0"/>
                    <a:pt x="47124" y="0"/>
                  </a:cubicBezTo>
                  <a:close/>
                </a:path>
              </a:pathLst>
            </a:custGeom>
            <a:solidFill>
              <a:srgbClr val="FB4625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1997987" cy="14427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9716589" y="3396339"/>
            <a:ext cx="7233480" cy="4791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Concorrência consolidada: Competição direta com plataformas que já dominam o mercado indie (ex: itch.io).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Custos de infraestrutura: Risco de os custos para manter o sistema online superarem a renda da plataforma.</a:t>
            </a:r>
          </a:p>
          <a:p>
            <a:pPr marL="647700" lvl="1" indent="-323850" algn="l">
              <a:lnSpc>
                <a:spcPts val="42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Monterchi Sans"/>
                <a:ea typeface="Monterchi Sans"/>
                <a:cs typeface="Monterchi Sans"/>
                <a:sym typeface="Monterchi Sans"/>
              </a:rPr>
              <a:t>Sustentabilidade financeira: Dificuldade de monetizar o serviço, já que desenvolvedores indies buscam opções gratuitas.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326653" y="2024646"/>
            <a:ext cx="2745944" cy="1193221"/>
            <a:chOff x="0" y="-39048"/>
            <a:chExt cx="697487" cy="30308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7487" cy="226885"/>
            </a:xfrm>
            <a:custGeom>
              <a:avLst/>
              <a:gdLst/>
              <a:ahLst/>
              <a:cxnLst/>
              <a:rect l="l" t="t" r="r" b="b"/>
              <a:pathLst>
                <a:path w="697487" h="226885">
                  <a:moveTo>
                    <a:pt x="113443" y="0"/>
                  </a:moveTo>
                  <a:lnTo>
                    <a:pt x="584044" y="0"/>
                  </a:lnTo>
                  <a:cubicBezTo>
                    <a:pt x="614131" y="0"/>
                    <a:pt x="642985" y="11952"/>
                    <a:pt x="664260" y="33227"/>
                  </a:cubicBezTo>
                  <a:cubicBezTo>
                    <a:pt x="685535" y="54501"/>
                    <a:pt x="697487" y="83356"/>
                    <a:pt x="697487" y="113443"/>
                  </a:cubicBezTo>
                  <a:lnTo>
                    <a:pt x="697487" y="113443"/>
                  </a:lnTo>
                  <a:cubicBezTo>
                    <a:pt x="697487" y="143530"/>
                    <a:pt x="685535" y="172384"/>
                    <a:pt x="664260" y="193659"/>
                  </a:cubicBezTo>
                  <a:cubicBezTo>
                    <a:pt x="642985" y="214933"/>
                    <a:pt x="614131" y="226885"/>
                    <a:pt x="584044" y="226885"/>
                  </a:cubicBezTo>
                  <a:lnTo>
                    <a:pt x="113443" y="226885"/>
                  </a:lnTo>
                  <a:cubicBezTo>
                    <a:pt x="83356" y="226885"/>
                    <a:pt x="54501" y="214933"/>
                    <a:pt x="33227" y="193659"/>
                  </a:cubicBezTo>
                  <a:cubicBezTo>
                    <a:pt x="11952" y="172384"/>
                    <a:pt x="0" y="143530"/>
                    <a:pt x="0" y="113443"/>
                  </a:cubicBezTo>
                  <a:lnTo>
                    <a:pt x="0" y="113443"/>
                  </a:lnTo>
                  <a:cubicBezTo>
                    <a:pt x="0" y="83356"/>
                    <a:pt x="11952" y="54501"/>
                    <a:pt x="33227" y="33227"/>
                  </a:cubicBezTo>
                  <a:cubicBezTo>
                    <a:pt x="54501" y="11952"/>
                    <a:pt x="83356" y="0"/>
                    <a:pt x="113443" y="0"/>
                  </a:cubicBezTo>
                  <a:close/>
                </a:path>
              </a:pathLst>
            </a:custGeom>
            <a:solidFill>
              <a:srgbClr val="CCA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9048"/>
              <a:ext cx="697487" cy="3030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5418"/>
                </a:lnSpc>
              </a:pPr>
              <a:r>
                <a:rPr lang="en-US" sz="3870" b="1" dirty="0">
                  <a:solidFill>
                    <a:srgbClr val="FFF9F3"/>
                  </a:solidFill>
                  <a:latin typeface="Monterchi Sans Bold"/>
                  <a:ea typeface="Monterchi Sans Bold"/>
                  <a:cs typeface="Monterchi Sans Bold"/>
                  <a:sym typeface="Monterchi Sans Bold"/>
                </a:rPr>
                <a:t>FRAQUEZAS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097347" y="2032104"/>
            <a:ext cx="3062493" cy="1212777"/>
            <a:chOff x="-11125" y="-34880"/>
            <a:chExt cx="730287" cy="2892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19162" cy="213000"/>
            </a:xfrm>
            <a:custGeom>
              <a:avLst/>
              <a:gdLst/>
              <a:ahLst/>
              <a:cxnLst/>
              <a:rect l="l" t="t" r="r" b="b"/>
              <a:pathLst>
                <a:path w="719162" h="213000">
                  <a:moveTo>
                    <a:pt x="106500" y="0"/>
                  </a:moveTo>
                  <a:lnTo>
                    <a:pt x="612661" y="0"/>
                  </a:lnTo>
                  <a:cubicBezTo>
                    <a:pt x="640907" y="0"/>
                    <a:pt x="667996" y="11221"/>
                    <a:pt x="687968" y="31193"/>
                  </a:cubicBezTo>
                  <a:cubicBezTo>
                    <a:pt x="707941" y="51166"/>
                    <a:pt x="719162" y="78255"/>
                    <a:pt x="719162" y="106500"/>
                  </a:cubicBezTo>
                  <a:lnTo>
                    <a:pt x="719162" y="106500"/>
                  </a:lnTo>
                  <a:cubicBezTo>
                    <a:pt x="719162" y="134746"/>
                    <a:pt x="707941" y="161835"/>
                    <a:pt x="687968" y="181807"/>
                  </a:cubicBezTo>
                  <a:cubicBezTo>
                    <a:pt x="667996" y="201780"/>
                    <a:pt x="640907" y="213000"/>
                    <a:pt x="612661" y="213000"/>
                  </a:cubicBezTo>
                  <a:lnTo>
                    <a:pt x="106500" y="213000"/>
                  </a:lnTo>
                  <a:cubicBezTo>
                    <a:pt x="78255" y="213000"/>
                    <a:pt x="51166" y="201780"/>
                    <a:pt x="31193" y="181807"/>
                  </a:cubicBezTo>
                  <a:cubicBezTo>
                    <a:pt x="11221" y="161835"/>
                    <a:pt x="0" y="134746"/>
                    <a:pt x="0" y="106500"/>
                  </a:cubicBezTo>
                  <a:lnTo>
                    <a:pt x="0" y="106500"/>
                  </a:lnTo>
                  <a:cubicBezTo>
                    <a:pt x="0" y="78255"/>
                    <a:pt x="11221" y="51166"/>
                    <a:pt x="31193" y="31193"/>
                  </a:cubicBezTo>
                  <a:cubicBezTo>
                    <a:pt x="51166" y="11221"/>
                    <a:pt x="78255" y="0"/>
                    <a:pt x="106500" y="0"/>
                  </a:cubicBezTo>
                  <a:close/>
                </a:path>
              </a:pathLst>
            </a:custGeom>
            <a:solidFill>
              <a:srgbClr val="CC00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-11125" y="-34880"/>
              <a:ext cx="719162" cy="289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5418"/>
                </a:lnSpc>
              </a:pPr>
              <a:r>
                <a:rPr lang="en-US" sz="3870" b="1" dirty="0">
                  <a:solidFill>
                    <a:srgbClr val="FFF9F3"/>
                  </a:solidFill>
                  <a:latin typeface="Monterchi Sans Bold"/>
                  <a:ea typeface="Monterchi Sans Bold"/>
                  <a:cs typeface="Monterchi Sans Bold"/>
                  <a:sym typeface="Monterchi Sans Bold"/>
                </a:rPr>
                <a:t>AMEAÇAS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 rot="-5400000">
            <a:off x="8502685" y="-8228547"/>
            <a:ext cx="1282633" cy="18288001"/>
            <a:chOff x="0" y="0"/>
            <a:chExt cx="337813" cy="494371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6784626" y="283531"/>
            <a:ext cx="4610251" cy="1134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389"/>
              </a:lnSpc>
              <a:spcBef>
                <a:spcPct val="0"/>
              </a:spcBef>
            </a:pPr>
            <a:r>
              <a:rPr lang="en-US" sz="6706" dirty="0">
                <a:solidFill>
                  <a:srgbClr val="FFF9F3"/>
                </a:solidFill>
                <a:latin typeface="Anton"/>
                <a:ea typeface="Anton"/>
                <a:cs typeface="Anton"/>
                <a:sym typeface="Anton"/>
              </a:rPr>
              <a:t>FOFA (SWOT)</a:t>
            </a:r>
          </a:p>
        </p:txBody>
      </p:sp>
      <p:grpSp>
        <p:nvGrpSpPr>
          <p:cNvPr id="20" name="Group 20"/>
          <p:cNvGrpSpPr/>
          <p:nvPr/>
        </p:nvGrpSpPr>
        <p:grpSpPr>
          <a:xfrm rot="-5400000">
            <a:off x="8512971" y="857949"/>
            <a:ext cx="1262058" cy="18770658"/>
            <a:chOff x="0" y="0"/>
            <a:chExt cx="332394" cy="494371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32394" cy="4943713"/>
            </a:xfrm>
            <a:custGeom>
              <a:avLst/>
              <a:gdLst/>
              <a:ahLst/>
              <a:cxnLst/>
              <a:rect l="l" t="t" r="r" b="b"/>
              <a:pathLst>
                <a:path w="332394" h="4943713">
                  <a:moveTo>
                    <a:pt x="0" y="0"/>
                  </a:moveTo>
                  <a:lnTo>
                    <a:pt x="332394" y="0"/>
                  </a:lnTo>
                  <a:lnTo>
                    <a:pt x="332394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332394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5400000">
            <a:off x="8502684" y="-8115301"/>
            <a:ext cx="1282633" cy="18288002"/>
            <a:chOff x="0" y="0"/>
            <a:chExt cx="337813" cy="494371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5400000">
            <a:off x="8502684" y="926822"/>
            <a:ext cx="1282633" cy="18770658"/>
            <a:chOff x="0" y="0"/>
            <a:chExt cx="337813" cy="494371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37813" cy="4943713"/>
            </a:xfrm>
            <a:custGeom>
              <a:avLst/>
              <a:gdLst/>
              <a:ahLst/>
              <a:cxnLst/>
              <a:rect l="l" t="t" r="r" b="b"/>
              <a:pathLst>
                <a:path w="337813" h="4943713">
                  <a:moveTo>
                    <a:pt x="0" y="0"/>
                  </a:moveTo>
                  <a:lnTo>
                    <a:pt x="337813" y="0"/>
                  </a:lnTo>
                  <a:lnTo>
                    <a:pt x="337813" y="4943713"/>
                  </a:lnTo>
                  <a:lnTo>
                    <a:pt x="0" y="4943713"/>
                  </a:lnTo>
                  <a:close/>
                </a:path>
              </a:pathLst>
            </a:custGeom>
            <a:solidFill>
              <a:srgbClr val="414B3B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337813" cy="49722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09381" y="4467786"/>
            <a:ext cx="15649919" cy="2900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674"/>
              </a:lnSpc>
            </a:pPr>
            <a:r>
              <a:rPr lang="en-US" sz="22344">
                <a:solidFill>
                  <a:srgbClr val="414B3B"/>
                </a:solidFill>
                <a:latin typeface="Anton"/>
                <a:ea typeface="Anton"/>
                <a:cs typeface="Anton"/>
                <a:sym typeface="Anton"/>
              </a:rPr>
              <a:t>OBRIGADO!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543</Words>
  <Application>Microsoft Office PowerPoint</Application>
  <PresentationFormat>Personalizar</PresentationFormat>
  <Paragraphs>43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Monterchi Sans</vt:lpstr>
      <vt:lpstr>Monterchi Sans Bold</vt:lpstr>
      <vt:lpstr>Calibri</vt:lpstr>
      <vt:lpstr>Arial</vt:lpstr>
      <vt:lpstr>Anton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</dc:title>
  <dc:creator>CAMARGO</dc:creator>
  <cp:lastModifiedBy>CAMARGO</cp:lastModifiedBy>
  <cp:revision>3</cp:revision>
  <dcterms:created xsi:type="dcterms:W3CDTF">2006-08-16T00:00:00Z</dcterms:created>
  <dcterms:modified xsi:type="dcterms:W3CDTF">2026-08-14T22:50:23Z</dcterms:modified>
  <dc:identifier>DAHSTCpPam4</dc:identifier>
</cp:coreProperties>
</file>